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rchivo Black" charset="1" panose="020B0A03020202020B04"/>
      <p:regular r:id="rId20"/>
    </p:embeddedFont>
    <p:embeddedFont>
      <p:font typeface="Canva Sans Bold" charset="1" panose="020B0803030501040103"/>
      <p:regular r:id="rId21"/>
    </p:embeddedFont>
    <p:embeddedFont>
      <p:font typeface="Bricolage Grotesque Bold" charset="1" panose="020B0605040402000204"/>
      <p:regular r:id="rId22"/>
    </p:embeddedFont>
    <p:embeddedFont>
      <p:font typeface="League Spartan" charset="1" panose="00000800000000000000"/>
      <p:regular r:id="rId23"/>
    </p:embeddedFont>
    <p:embeddedFont>
      <p:font typeface="Caladea" charset="1" panose="02040503050406030204"/>
      <p:regular r:id="rId24"/>
    </p:embeddedFont>
    <p:embeddedFont>
      <p:font typeface="Poppins Bold" charset="1" panose="00000800000000000000"/>
      <p:regular r:id="rId25"/>
    </p:embeddedFont>
    <p:embeddedFont>
      <p:font typeface="Poppins" charset="1" panose="00000500000000000000"/>
      <p:regular r:id="rId26"/>
    </p:embeddedFont>
    <p:embeddedFont>
      <p:font typeface="Canva Sans" charset="1" panose="020B0503030501040103"/>
      <p:regular r:id="rId27"/>
    </p:embeddedFont>
    <p:embeddedFont>
      <p:font typeface="Open Sans Bold" charset="1" panose="00000000000000000000"/>
      <p:regular r:id="rId28"/>
    </p:embeddedFont>
    <p:embeddedFont>
      <p:font typeface="Roboto Bold" charset="1" panose="02000000000000000000"/>
      <p:regular r:id="rId29"/>
    </p:embeddedFont>
    <p:embeddedFont>
      <p:font typeface="Roboto" charset="1" panose="02000000000000000000"/>
      <p:regular r:id="rId30"/>
    </p:embeddedFont>
    <p:embeddedFont>
      <p:font typeface="Roboto Italics" charset="1" panose="02000000000000000000"/>
      <p:regular r:id="rId31"/>
    </p:embeddedFont>
    <p:embeddedFont>
      <p:font typeface="Roboto Bold Italics" charset="1" panose="02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http://192.168.56.103:3000"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1.jpe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http://docs.oasis-open.org/mqtt/mqtt/v3.1.1/os/mqtt-v3.1.1-os.html" TargetMode="External" Type="http://schemas.openxmlformats.org/officeDocument/2006/relationships/hyperlink"/><Relationship Id="rId3" Target="https://docs.influxdata.com/influxdb/" TargetMode="External" Type="http://schemas.openxmlformats.org/officeDocument/2006/relationships/hyperlink"/><Relationship Id="rId4" Target="https://grafana.com/docs/grafana/latest/" TargetMode="External" Type="http://schemas.openxmlformats.org/officeDocument/2006/relationships/hyperlink"/><Relationship Id="rId5" Target="https://dash.plotly.com" TargetMode="External" Type="http://schemas.openxmlformats.org/officeDocument/2006/relationships/hyperlink"/><Relationship Id="rId6" Target="https://flask.palletsprojects.com" TargetMode="External" Type="http://schemas.openxmlformats.org/officeDocument/2006/relationships/hyperlink"/><Relationship Id="rId7" Target="https://restfulapi.net"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slide1.xml><?xml version="1.0" encoding="utf-8"?>
<p:sld xmlns:p="http://schemas.openxmlformats.org/presentationml/2006/main" xmlns:a="http://schemas.openxmlformats.org/drawingml/2006/main">
  <p:cSld>
    <p:bg>
      <p:bgPr>
        <a:gradFill rotWithShape="true">
          <a:gsLst>
            <a:gs pos="0">
              <a:srgbClr val="0085FF">
                <a:alpha val="100000"/>
              </a:srgbClr>
            </a:gs>
            <a:gs pos="100000">
              <a:srgbClr val="0B0050">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0" y="3600450"/>
            <a:ext cx="18288000" cy="3086100"/>
            <a:chOff x="0" y="0"/>
            <a:chExt cx="4816593" cy="812800"/>
          </a:xfrm>
        </p:grpSpPr>
        <p:sp>
          <p:nvSpPr>
            <p:cNvPr name="Freeform 3" id="3"/>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gradFill rotWithShape="true">
              <a:gsLst>
                <a:gs pos="0">
                  <a:srgbClr val="0085FF">
                    <a:alpha val="0"/>
                  </a:srgbClr>
                </a:gs>
                <a:gs pos="50000">
                  <a:srgbClr val="001BD1">
                    <a:alpha val="58000"/>
                  </a:srgbClr>
                </a:gs>
                <a:gs pos="100000">
                  <a:srgbClr val="0085FF">
                    <a:alpha val="0"/>
                  </a:srgbClr>
                </a:gs>
              </a:gsLst>
              <a:lin ang="0"/>
            </a:gradFill>
          </p:spPr>
        </p:sp>
        <p:sp>
          <p:nvSpPr>
            <p:cNvPr name="TextBox 4" id="4"/>
            <p:cNvSpPr txBox="true"/>
            <p:nvPr/>
          </p:nvSpPr>
          <p:spPr>
            <a:xfrm>
              <a:off x="0" y="-38100"/>
              <a:ext cx="4816593" cy="8509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811145" y="3599616"/>
            <a:ext cx="16665710" cy="1543884"/>
          </a:xfrm>
          <a:prstGeom prst="rect">
            <a:avLst/>
          </a:prstGeom>
        </p:spPr>
        <p:txBody>
          <a:bodyPr anchor="t" rtlCol="false" tIns="0" lIns="0" bIns="0" rIns="0">
            <a:spAutoFit/>
          </a:bodyPr>
          <a:lstStyle/>
          <a:p>
            <a:pPr algn="ctr">
              <a:lnSpc>
                <a:spcPts val="12554"/>
              </a:lnSpc>
              <a:spcBef>
                <a:spcPct val="0"/>
              </a:spcBef>
            </a:pPr>
            <a:r>
              <a:rPr lang="en-US" sz="8967">
                <a:solidFill>
                  <a:srgbClr val="FFFFFF"/>
                </a:solidFill>
                <a:latin typeface="Archivo Black"/>
                <a:ea typeface="Archivo Black"/>
                <a:cs typeface="Archivo Black"/>
                <a:sym typeface="Archivo Black"/>
              </a:rPr>
              <a:t>SMART GUARD</a:t>
            </a:r>
          </a:p>
        </p:txBody>
      </p:sp>
      <p:sp>
        <p:nvSpPr>
          <p:cNvPr name="TextBox 6" id="6"/>
          <p:cNvSpPr txBox="true"/>
          <p:nvPr/>
        </p:nvSpPr>
        <p:spPr>
          <a:xfrm rot="0">
            <a:off x="4046874" y="933450"/>
            <a:ext cx="10194251" cy="1474469"/>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CS 331 -COMPUTER NETWORKS</a:t>
            </a:r>
          </a:p>
          <a:p>
            <a:pPr algn="ctr">
              <a:lnSpc>
                <a:spcPts val="4480"/>
              </a:lnSpc>
            </a:pPr>
            <a:r>
              <a:rPr lang="en-US" sz="3200" b="true">
                <a:solidFill>
                  <a:srgbClr val="FFFFFF"/>
                </a:solidFill>
                <a:latin typeface="Canva Sans Bold"/>
                <a:ea typeface="Canva Sans Bold"/>
                <a:cs typeface="Canva Sans Bold"/>
                <a:sym typeface="Canva Sans Bold"/>
              </a:rPr>
              <a:t>P</a:t>
            </a:r>
            <a:r>
              <a:rPr lang="en-US" sz="3200" b="true">
                <a:solidFill>
                  <a:srgbClr val="FFFFFF"/>
                </a:solidFill>
                <a:latin typeface="Canva Sans Bold"/>
                <a:ea typeface="Canva Sans Bold"/>
                <a:cs typeface="Canva Sans Bold"/>
                <a:sym typeface="Canva Sans Bold"/>
              </a:rPr>
              <a:t>rof. SAMEER G.KULKARNI</a:t>
            </a:r>
          </a:p>
        </p:txBody>
      </p:sp>
      <p:sp>
        <p:nvSpPr>
          <p:cNvPr name="TextBox 7" id="7"/>
          <p:cNvSpPr txBox="true"/>
          <p:nvPr/>
        </p:nvSpPr>
        <p:spPr>
          <a:xfrm rot="0">
            <a:off x="11500354" y="8568055"/>
            <a:ext cx="6525890" cy="1553845"/>
          </a:xfrm>
          <a:prstGeom prst="rect">
            <a:avLst/>
          </a:prstGeom>
        </p:spPr>
        <p:txBody>
          <a:bodyPr anchor="t" rtlCol="false" tIns="0" lIns="0" bIns="0" rIns="0">
            <a:spAutoFit/>
          </a:bodyPr>
          <a:lstStyle/>
          <a:p>
            <a:pPr algn="ctr">
              <a:lnSpc>
                <a:spcPts val="3079"/>
              </a:lnSpc>
            </a:pPr>
            <a:r>
              <a:rPr lang="en-US" sz="2199">
                <a:solidFill>
                  <a:srgbClr val="FFFFFF"/>
                </a:solidFill>
                <a:latin typeface="Archivo Black"/>
                <a:ea typeface="Archivo Black"/>
                <a:cs typeface="Archivo Black"/>
                <a:sym typeface="Archivo Black"/>
              </a:rPr>
              <a:t>Chepuri Venkata Naga Thrisha (23110079)</a:t>
            </a:r>
          </a:p>
          <a:p>
            <a:pPr algn="ctr">
              <a:lnSpc>
                <a:spcPts val="3079"/>
              </a:lnSpc>
            </a:pPr>
            <a:r>
              <a:rPr lang="en-US" sz="2199">
                <a:solidFill>
                  <a:srgbClr val="FFFFFF"/>
                </a:solidFill>
                <a:latin typeface="Archivo Black"/>
                <a:ea typeface="Archivo Black"/>
                <a:cs typeface="Archivo Black"/>
                <a:sym typeface="Archivo Black"/>
              </a:rPr>
              <a:t>Katta Revathi (23110159)</a:t>
            </a:r>
          </a:p>
          <a:p>
            <a:pPr algn="ctr">
              <a:lnSpc>
                <a:spcPts val="3079"/>
              </a:lnSpc>
            </a:pPr>
            <a:r>
              <a:rPr lang="en-US" sz="2199">
                <a:solidFill>
                  <a:srgbClr val="FFFFFF"/>
                </a:solidFill>
                <a:latin typeface="Archivo Black"/>
                <a:ea typeface="Archivo Black"/>
                <a:cs typeface="Archivo Black"/>
                <a:sym typeface="Archivo Black"/>
              </a:rPr>
              <a:t>Pappala Sai Keerthana (23110229)</a:t>
            </a:r>
          </a:p>
          <a:p>
            <a:pPr algn="ctr">
              <a:lnSpc>
                <a:spcPts val="3079"/>
              </a:lnSpc>
              <a:spcBef>
                <a:spcPct val="0"/>
              </a:spcBef>
            </a:pPr>
            <a:r>
              <a:rPr lang="en-US" sz="2199">
                <a:solidFill>
                  <a:srgbClr val="FFFFFF"/>
                </a:solidFill>
                <a:latin typeface="Archivo Black"/>
                <a:ea typeface="Archivo Black"/>
                <a:cs typeface="Archivo Black"/>
                <a:sym typeface="Archivo Black"/>
              </a:rPr>
              <a:t>Thoutam Dhruthika (23110340)</a:t>
            </a:r>
          </a:p>
        </p:txBody>
      </p:sp>
      <p:sp>
        <p:nvSpPr>
          <p:cNvPr name="TextBox 8" id="8"/>
          <p:cNvSpPr txBox="true"/>
          <p:nvPr/>
        </p:nvSpPr>
        <p:spPr>
          <a:xfrm rot="0">
            <a:off x="3747319" y="5465979"/>
            <a:ext cx="11016496" cy="596901"/>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Bricolage Grotesque Bold"/>
                <a:ea typeface="Bricolage Grotesque Bold"/>
                <a:cs typeface="Bricolage Grotesque Bold"/>
                <a:sym typeface="Bricolage Grotesque Bold"/>
              </a:rPr>
              <a:t> (Centralized I</a:t>
            </a:r>
            <a:r>
              <a:rPr lang="en-US" b="true" sz="3499">
                <a:solidFill>
                  <a:srgbClr val="FFFFFF"/>
                </a:solidFill>
                <a:latin typeface="Bricolage Grotesque Bold"/>
                <a:ea typeface="Bricolage Grotesque Bold"/>
                <a:cs typeface="Bricolage Grotesque Bold"/>
                <a:sym typeface="Bricolage Grotesque Bold"/>
              </a:rPr>
              <a:t>oT Environmental Monitoring System)</a:t>
            </a:r>
          </a:p>
        </p:txBody>
      </p:sp>
      <p:sp>
        <p:nvSpPr>
          <p:cNvPr name="TextBox 9" id="9"/>
          <p:cNvSpPr txBox="true"/>
          <p:nvPr/>
        </p:nvSpPr>
        <p:spPr>
          <a:xfrm rot="0">
            <a:off x="808484" y="9311640"/>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FFFFFF"/>
                </a:solidFill>
                <a:latin typeface="Archivo Black"/>
                <a:ea typeface="Archivo Black"/>
                <a:cs typeface="Archivo Black"/>
                <a:sym typeface="Archivo Black"/>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998036" y="649067"/>
            <a:ext cx="12306589" cy="1418823"/>
          </a:xfrm>
          <a:prstGeom prst="rect">
            <a:avLst/>
          </a:prstGeom>
        </p:spPr>
        <p:txBody>
          <a:bodyPr anchor="t" rtlCol="false" tIns="0" lIns="0" bIns="0" rIns="0">
            <a:spAutoFit/>
          </a:bodyPr>
          <a:lstStyle/>
          <a:p>
            <a:pPr algn="ctr">
              <a:lnSpc>
                <a:spcPts val="11572"/>
              </a:lnSpc>
            </a:pPr>
            <a:r>
              <a:rPr lang="en-US" b="true" sz="8265">
                <a:solidFill>
                  <a:srgbClr val="004AAD"/>
                </a:solidFill>
                <a:latin typeface="League Spartan"/>
                <a:ea typeface="League Spartan"/>
                <a:cs typeface="League Spartan"/>
                <a:sym typeface="League Spartan"/>
              </a:rPr>
              <a:t>PROBLEM STATEMENT</a:t>
            </a:r>
          </a:p>
        </p:txBody>
      </p:sp>
      <p:sp>
        <p:nvSpPr>
          <p:cNvPr name="TextBox 4" id="4"/>
          <p:cNvSpPr txBox="true"/>
          <p:nvPr/>
        </p:nvSpPr>
        <p:spPr>
          <a:xfrm rot="0">
            <a:off x="2983375" y="2306015"/>
            <a:ext cx="12321250" cy="2510203"/>
          </a:xfrm>
          <a:prstGeom prst="rect">
            <a:avLst/>
          </a:prstGeom>
        </p:spPr>
        <p:txBody>
          <a:bodyPr anchor="t" rtlCol="false" tIns="0" lIns="0" bIns="0" rIns="0">
            <a:spAutoFit/>
          </a:bodyPr>
          <a:lstStyle/>
          <a:p>
            <a:pPr algn="ctr">
              <a:lnSpc>
                <a:spcPts val="4967"/>
              </a:lnSpc>
              <a:spcBef>
                <a:spcPct val="0"/>
              </a:spcBef>
            </a:pPr>
            <a:r>
              <a:rPr lang="en-US" sz="3548">
                <a:solidFill>
                  <a:srgbClr val="2D8BBA"/>
                </a:solidFill>
                <a:latin typeface="Caladea"/>
                <a:ea typeface="Caladea"/>
                <a:cs typeface="Caladea"/>
                <a:sym typeface="Caladea"/>
              </a:rPr>
              <a:t>Manual monitoring of classroom and lab environments is time-consuming and lacks real-time updates. Issues like high CO₂ levels may go unnoticed, and managing multiple rooms is challenging due to the scattered and uncentralized nature of data.</a:t>
            </a:r>
          </a:p>
        </p:txBody>
      </p:sp>
      <p:sp>
        <p:nvSpPr>
          <p:cNvPr name="TextBox 5" id="5"/>
          <p:cNvSpPr txBox="true"/>
          <p:nvPr/>
        </p:nvSpPr>
        <p:spPr>
          <a:xfrm rot="0">
            <a:off x="2983375" y="5057775"/>
            <a:ext cx="12321250" cy="3138805"/>
          </a:xfrm>
          <a:prstGeom prst="rect">
            <a:avLst/>
          </a:prstGeom>
        </p:spPr>
        <p:txBody>
          <a:bodyPr anchor="t" rtlCol="false" tIns="0" lIns="0" bIns="0" rIns="0">
            <a:spAutoFit/>
          </a:bodyPr>
          <a:lstStyle/>
          <a:p>
            <a:pPr algn="ctr">
              <a:lnSpc>
                <a:spcPts val="4969"/>
              </a:lnSpc>
              <a:spcBef>
                <a:spcPct val="0"/>
              </a:spcBef>
            </a:pPr>
            <a:r>
              <a:rPr lang="en-US" sz="3549">
                <a:solidFill>
                  <a:srgbClr val="004AAD"/>
                </a:solidFill>
                <a:latin typeface="Caladea"/>
                <a:ea typeface="Caladea"/>
                <a:cs typeface="Caladea"/>
                <a:sym typeface="Caladea"/>
              </a:rPr>
              <a:t> </a:t>
            </a:r>
            <a:r>
              <a:rPr lang="en-US" sz="3549">
                <a:solidFill>
                  <a:srgbClr val="004AAD"/>
                </a:solidFill>
                <a:latin typeface="Caladea"/>
                <a:ea typeface="Caladea"/>
                <a:cs typeface="Caladea"/>
                <a:sym typeface="Caladea"/>
              </a:rPr>
              <a:t>This project addresses these challenges by developing a centralized monitoring system that efficiently collects and visualizes data from multiple simulated sensors using Mininet, providing real-time insights and efficiently managing multiple spaces from a single interface.</a:t>
            </a:r>
          </a:p>
        </p:txBody>
      </p:sp>
      <p:sp>
        <p:nvSpPr>
          <p:cNvPr name="TextBox 6" id="6"/>
          <p:cNvSpPr txBox="true"/>
          <p:nvPr/>
        </p:nvSpPr>
        <p:spPr>
          <a:xfrm rot="0">
            <a:off x="17030601" y="9201150"/>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5627" y="266151"/>
            <a:ext cx="18100554" cy="9894366"/>
            <a:chOff x="0" y="0"/>
            <a:chExt cx="4767224" cy="2605924"/>
          </a:xfrm>
        </p:grpSpPr>
        <p:sp>
          <p:nvSpPr>
            <p:cNvPr name="Freeform 4" id="4"/>
            <p:cNvSpPr/>
            <p:nvPr/>
          </p:nvSpPr>
          <p:spPr>
            <a:xfrm flipH="false" flipV="false" rot="0">
              <a:off x="0" y="0"/>
              <a:ext cx="4767224" cy="2605924"/>
            </a:xfrm>
            <a:custGeom>
              <a:avLst/>
              <a:gdLst/>
              <a:ahLst/>
              <a:cxnLst/>
              <a:rect r="r" b="b" t="t" l="l"/>
              <a:pathLst>
                <a:path h="2605924" w="4767224">
                  <a:moveTo>
                    <a:pt x="0" y="0"/>
                  </a:moveTo>
                  <a:lnTo>
                    <a:pt x="4767224" y="0"/>
                  </a:lnTo>
                  <a:lnTo>
                    <a:pt x="4767224" y="2605924"/>
                  </a:lnTo>
                  <a:lnTo>
                    <a:pt x="0" y="2605924"/>
                  </a:lnTo>
                  <a:close/>
                </a:path>
              </a:pathLst>
            </a:custGeom>
            <a:solidFill>
              <a:srgbClr val="004AAD"/>
            </a:solidFill>
          </p:spPr>
        </p:sp>
        <p:sp>
          <p:nvSpPr>
            <p:cNvPr name="TextBox 5" id="5"/>
            <p:cNvSpPr txBox="true"/>
            <p:nvPr/>
          </p:nvSpPr>
          <p:spPr>
            <a:xfrm>
              <a:off x="0" y="-47625"/>
              <a:ext cx="4767224" cy="265354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611299" y="502694"/>
            <a:ext cx="4517387" cy="919900"/>
          </a:xfrm>
          <a:prstGeom prst="rect">
            <a:avLst/>
          </a:prstGeom>
        </p:spPr>
        <p:txBody>
          <a:bodyPr anchor="t" rtlCol="false" tIns="0" lIns="0" bIns="0" rIns="0">
            <a:spAutoFit/>
          </a:bodyPr>
          <a:lstStyle/>
          <a:p>
            <a:pPr algn="l">
              <a:lnSpc>
                <a:spcPts val="7571"/>
              </a:lnSpc>
            </a:pPr>
            <a:r>
              <a:rPr lang="en-US" b="true" sz="5408">
                <a:solidFill>
                  <a:srgbClr val="FFFFFF"/>
                </a:solidFill>
                <a:latin typeface="League Spartan"/>
                <a:ea typeface="League Spartan"/>
                <a:cs typeface="League Spartan"/>
                <a:sym typeface="League Spartan"/>
              </a:rPr>
              <a:t>OBJECTIVES</a:t>
            </a:r>
          </a:p>
        </p:txBody>
      </p:sp>
      <p:sp>
        <p:nvSpPr>
          <p:cNvPr name="TextBox 7" id="7"/>
          <p:cNvSpPr txBox="true"/>
          <p:nvPr/>
        </p:nvSpPr>
        <p:spPr>
          <a:xfrm rot="0">
            <a:off x="2015366" y="2003620"/>
            <a:ext cx="5271090" cy="1308100"/>
          </a:xfrm>
          <a:prstGeom prst="rect">
            <a:avLst/>
          </a:prstGeom>
        </p:spPr>
        <p:txBody>
          <a:bodyPr anchor="t" rtlCol="false" tIns="0" lIns="0" bIns="0" rIns="0">
            <a:spAutoFit/>
          </a:bodyPr>
          <a:lstStyle/>
          <a:p>
            <a:pPr algn="r">
              <a:lnSpc>
                <a:spcPts val="3500"/>
              </a:lnSpc>
              <a:spcBef>
                <a:spcPct val="0"/>
              </a:spcBef>
            </a:pPr>
            <a:r>
              <a:rPr lang="en-US" sz="2500">
                <a:solidFill>
                  <a:srgbClr val="FFFFFF"/>
                </a:solidFill>
                <a:latin typeface="Caladea"/>
                <a:ea typeface="Caladea"/>
                <a:cs typeface="Caladea"/>
                <a:sym typeface="Caladea"/>
              </a:rPr>
              <a:t>Develop a centralized system to collect real-time temperature, humidity, light, and CO₂ data from classrooms and labs.</a:t>
            </a:r>
          </a:p>
        </p:txBody>
      </p:sp>
      <p:sp>
        <p:nvSpPr>
          <p:cNvPr name="TextBox 8" id="8"/>
          <p:cNvSpPr txBox="true"/>
          <p:nvPr/>
        </p:nvSpPr>
        <p:spPr>
          <a:xfrm rot="0">
            <a:off x="2919045" y="4016570"/>
            <a:ext cx="4367411" cy="1308100"/>
          </a:xfrm>
          <a:prstGeom prst="rect">
            <a:avLst/>
          </a:prstGeom>
        </p:spPr>
        <p:txBody>
          <a:bodyPr anchor="t" rtlCol="false" tIns="0" lIns="0" bIns="0" rIns="0">
            <a:spAutoFit/>
          </a:bodyPr>
          <a:lstStyle/>
          <a:p>
            <a:pPr algn="r">
              <a:lnSpc>
                <a:spcPts val="3500"/>
              </a:lnSpc>
            </a:pPr>
            <a:r>
              <a:rPr lang="en-US" sz="2500">
                <a:solidFill>
                  <a:srgbClr val="FFFFFF"/>
                </a:solidFill>
                <a:latin typeface="Caladea"/>
                <a:ea typeface="Caladea"/>
                <a:cs typeface="Caladea"/>
                <a:sym typeface="Caladea"/>
              </a:rPr>
              <a:t>Simulate a scalable 100-node</a:t>
            </a:r>
          </a:p>
          <a:p>
            <a:pPr algn="r">
              <a:lnSpc>
                <a:spcPts val="3500"/>
              </a:lnSpc>
              <a:spcBef>
                <a:spcPct val="0"/>
              </a:spcBef>
            </a:pPr>
            <a:r>
              <a:rPr lang="en-US" sz="2500">
                <a:solidFill>
                  <a:srgbClr val="FFFFFF"/>
                </a:solidFill>
                <a:latin typeface="Caladea"/>
                <a:ea typeface="Caladea"/>
                <a:cs typeface="Caladea"/>
                <a:sym typeface="Caladea"/>
              </a:rPr>
              <a:t> sensor network using Mininet to represent virtual IoT clients.</a:t>
            </a:r>
          </a:p>
        </p:txBody>
      </p:sp>
      <p:sp>
        <p:nvSpPr>
          <p:cNvPr name="TextBox 9" id="9"/>
          <p:cNvSpPr txBox="true"/>
          <p:nvPr/>
        </p:nvSpPr>
        <p:spPr>
          <a:xfrm rot="0">
            <a:off x="2015366" y="6029520"/>
            <a:ext cx="5271090" cy="1308100"/>
          </a:xfrm>
          <a:prstGeom prst="rect">
            <a:avLst/>
          </a:prstGeom>
        </p:spPr>
        <p:txBody>
          <a:bodyPr anchor="t" rtlCol="false" tIns="0" lIns="0" bIns="0" rIns="0">
            <a:spAutoFit/>
          </a:bodyPr>
          <a:lstStyle/>
          <a:p>
            <a:pPr algn="r">
              <a:lnSpc>
                <a:spcPts val="3500"/>
              </a:lnSpc>
            </a:pPr>
            <a:r>
              <a:rPr lang="en-US" sz="2500">
                <a:solidFill>
                  <a:srgbClr val="FFFFFF"/>
                </a:solidFill>
                <a:latin typeface="Caladea"/>
                <a:ea typeface="Caladea"/>
                <a:cs typeface="Caladea"/>
                <a:sym typeface="Caladea"/>
              </a:rPr>
              <a:t>Implement asynchronous data </a:t>
            </a:r>
          </a:p>
          <a:p>
            <a:pPr algn="r">
              <a:lnSpc>
                <a:spcPts val="3500"/>
              </a:lnSpc>
              <a:spcBef>
                <a:spcPct val="0"/>
              </a:spcBef>
            </a:pPr>
            <a:r>
              <a:rPr lang="en-US" sz="2500">
                <a:solidFill>
                  <a:srgbClr val="FFFFFF"/>
                </a:solidFill>
                <a:latin typeface="Caladea"/>
                <a:ea typeface="Caladea"/>
                <a:cs typeface="Caladea"/>
                <a:sym typeface="Caladea"/>
              </a:rPr>
              <a:t>transmission between sensors and the server using the MQTT protocol.</a:t>
            </a:r>
          </a:p>
        </p:txBody>
      </p:sp>
      <p:sp>
        <p:nvSpPr>
          <p:cNvPr name="TextBox 10" id="10"/>
          <p:cNvSpPr txBox="true"/>
          <p:nvPr/>
        </p:nvSpPr>
        <p:spPr>
          <a:xfrm rot="0">
            <a:off x="1305956" y="7865219"/>
            <a:ext cx="5948366" cy="1308100"/>
          </a:xfrm>
          <a:prstGeom prst="rect">
            <a:avLst/>
          </a:prstGeom>
        </p:spPr>
        <p:txBody>
          <a:bodyPr anchor="t" rtlCol="false" tIns="0" lIns="0" bIns="0" rIns="0">
            <a:spAutoFit/>
          </a:bodyPr>
          <a:lstStyle/>
          <a:p>
            <a:pPr algn="r">
              <a:lnSpc>
                <a:spcPts val="3500"/>
              </a:lnSpc>
            </a:pPr>
            <a:r>
              <a:rPr lang="en-US" sz="2500">
                <a:solidFill>
                  <a:srgbClr val="FFFFFF"/>
                </a:solidFill>
                <a:latin typeface="Caladea"/>
                <a:ea typeface="Caladea"/>
                <a:cs typeface="Caladea"/>
                <a:sym typeface="Caladea"/>
              </a:rPr>
              <a:t>Store collected sensor data efficiently </a:t>
            </a:r>
          </a:p>
          <a:p>
            <a:pPr algn="r">
              <a:lnSpc>
                <a:spcPts val="3500"/>
              </a:lnSpc>
            </a:pPr>
            <a:r>
              <a:rPr lang="en-US" sz="2500">
                <a:solidFill>
                  <a:srgbClr val="FFFFFF"/>
                </a:solidFill>
                <a:latin typeface="Caladea"/>
                <a:ea typeface="Caladea"/>
                <a:cs typeface="Caladea"/>
                <a:sym typeface="Caladea"/>
              </a:rPr>
              <a:t>in an InfluxDB time-series database </a:t>
            </a:r>
          </a:p>
          <a:p>
            <a:pPr algn="r">
              <a:lnSpc>
                <a:spcPts val="3500"/>
              </a:lnSpc>
              <a:spcBef>
                <a:spcPct val="0"/>
              </a:spcBef>
            </a:pPr>
            <a:r>
              <a:rPr lang="en-US" sz="2500">
                <a:solidFill>
                  <a:srgbClr val="FFFFFF"/>
                </a:solidFill>
                <a:latin typeface="Caladea"/>
                <a:ea typeface="Caladea"/>
                <a:cs typeface="Caladea"/>
                <a:sym typeface="Caladea"/>
              </a:rPr>
              <a:t>for historical analysis.</a:t>
            </a:r>
          </a:p>
        </p:txBody>
      </p:sp>
      <p:grpSp>
        <p:nvGrpSpPr>
          <p:cNvPr name="Group 11" id="11"/>
          <p:cNvGrpSpPr/>
          <p:nvPr/>
        </p:nvGrpSpPr>
        <p:grpSpPr>
          <a:xfrm rot="0">
            <a:off x="7665350" y="2060770"/>
            <a:ext cx="934133" cy="93413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3" id="13"/>
            <p:cNvSpPr txBox="true"/>
            <p:nvPr/>
          </p:nvSpPr>
          <p:spPr>
            <a:xfrm>
              <a:off x="76200" y="28575"/>
              <a:ext cx="660400" cy="708025"/>
            </a:xfrm>
            <a:prstGeom prst="rect">
              <a:avLst/>
            </a:prstGeom>
          </p:spPr>
          <p:txBody>
            <a:bodyPr anchor="ctr" rtlCol="false" tIns="25400" lIns="25400" bIns="25400" rIns="25400"/>
            <a:lstStyle/>
            <a:p>
              <a:pPr algn="ctr">
                <a:lnSpc>
                  <a:spcPts val="2659"/>
                </a:lnSpc>
              </a:pPr>
            </a:p>
          </p:txBody>
        </p:sp>
      </p:grpSp>
      <p:sp>
        <p:nvSpPr>
          <p:cNvPr name="TextBox 14" id="14"/>
          <p:cNvSpPr txBox="true"/>
          <p:nvPr/>
        </p:nvSpPr>
        <p:spPr>
          <a:xfrm rot="0">
            <a:off x="7722708" y="2208129"/>
            <a:ext cx="819418" cy="667989"/>
          </a:xfrm>
          <a:prstGeom prst="rect">
            <a:avLst/>
          </a:prstGeom>
        </p:spPr>
        <p:txBody>
          <a:bodyPr anchor="t" rtlCol="false" tIns="0" lIns="0" bIns="0" rIns="0">
            <a:spAutoFit/>
          </a:bodyPr>
          <a:lstStyle/>
          <a:p>
            <a:pPr algn="ctr">
              <a:lnSpc>
                <a:spcPts val="5501"/>
              </a:lnSpc>
            </a:pPr>
            <a:r>
              <a:rPr lang="en-US" sz="3929">
                <a:solidFill>
                  <a:srgbClr val="000000"/>
                </a:solidFill>
                <a:latin typeface="League Spartan"/>
                <a:ea typeface="League Spartan"/>
                <a:cs typeface="League Spartan"/>
                <a:sym typeface="League Spartan"/>
              </a:rPr>
              <a:t>1</a:t>
            </a:r>
          </a:p>
        </p:txBody>
      </p:sp>
      <p:grpSp>
        <p:nvGrpSpPr>
          <p:cNvPr name="Group 15" id="15"/>
          <p:cNvGrpSpPr/>
          <p:nvPr/>
        </p:nvGrpSpPr>
        <p:grpSpPr>
          <a:xfrm rot="0">
            <a:off x="7665350" y="4238912"/>
            <a:ext cx="934275" cy="93427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7" id="17"/>
            <p:cNvSpPr txBox="true"/>
            <p:nvPr/>
          </p:nvSpPr>
          <p:spPr>
            <a:xfrm>
              <a:off x="76200" y="28575"/>
              <a:ext cx="660400" cy="708025"/>
            </a:xfrm>
            <a:prstGeom prst="rect">
              <a:avLst/>
            </a:prstGeom>
          </p:spPr>
          <p:txBody>
            <a:bodyPr anchor="ctr" rtlCol="false" tIns="25404" lIns="25404" bIns="25404" rIns="25404"/>
            <a:lstStyle/>
            <a:p>
              <a:pPr algn="ctr">
                <a:lnSpc>
                  <a:spcPts val="2659"/>
                </a:lnSpc>
              </a:pPr>
            </a:p>
          </p:txBody>
        </p:sp>
      </p:grpSp>
      <p:sp>
        <p:nvSpPr>
          <p:cNvPr name="TextBox 18" id="18"/>
          <p:cNvSpPr txBox="true"/>
          <p:nvPr/>
        </p:nvSpPr>
        <p:spPr>
          <a:xfrm rot="0">
            <a:off x="7722716" y="4381542"/>
            <a:ext cx="819543" cy="668079"/>
          </a:xfrm>
          <a:prstGeom prst="rect">
            <a:avLst/>
          </a:prstGeom>
        </p:spPr>
        <p:txBody>
          <a:bodyPr anchor="t" rtlCol="false" tIns="0" lIns="0" bIns="0" rIns="0">
            <a:spAutoFit/>
          </a:bodyPr>
          <a:lstStyle/>
          <a:p>
            <a:pPr algn="ctr">
              <a:lnSpc>
                <a:spcPts val="5502"/>
              </a:lnSpc>
            </a:pPr>
            <a:r>
              <a:rPr lang="en-US" b="true" sz="3930">
                <a:solidFill>
                  <a:srgbClr val="000000"/>
                </a:solidFill>
                <a:latin typeface="League Spartan"/>
                <a:ea typeface="League Spartan"/>
                <a:cs typeface="League Spartan"/>
                <a:sym typeface="League Spartan"/>
              </a:rPr>
              <a:t>2</a:t>
            </a:r>
          </a:p>
        </p:txBody>
      </p:sp>
      <p:grpSp>
        <p:nvGrpSpPr>
          <p:cNvPr name="Group 19" id="19"/>
          <p:cNvGrpSpPr/>
          <p:nvPr/>
        </p:nvGrpSpPr>
        <p:grpSpPr>
          <a:xfrm rot="0">
            <a:off x="7717301" y="8196471"/>
            <a:ext cx="955490" cy="95549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1" id="21"/>
            <p:cNvSpPr txBox="true"/>
            <p:nvPr/>
          </p:nvSpPr>
          <p:spPr>
            <a:xfrm>
              <a:off x="76200" y="28575"/>
              <a:ext cx="660400" cy="708025"/>
            </a:xfrm>
            <a:prstGeom prst="rect">
              <a:avLst/>
            </a:prstGeom>
          </p:spPr>
          <p:txBody>
            <a:bodyPr anchor="ctr" rtlCol="false" tIns="31847" lIns="31847" bIns="31847" rIns="31847"/>
            <a:lstStyle/>
            <a:p>
              <a:pPr algn="ctr">
                <a:lnSpc>
                  <a:spcPts val="2660"/>
                </a:lnSpc>
              </a:pPr>
            </a:p>
          </p:txBody>
        </p:sp>
      </p:grpSp>
      <p:sp>
        <p:nvSpPr>
          <p:cNvPr name="TextBox 22" id="22"/>
          <p:cNvSpPr txBox="true"/>
          <p:nvPr/>
        </p:nvSpPr>
        <p:spPr>
          <a:xfrm rot="0">
            <a:off x="7615789" y="8295602"/>
            <a:ext cx="1057001" cy="790010"/>
          </a:xfrm>
          <a:prstGeom prst="rect">
            <a:avLst/>
          </a:prstGeom>
        </p:spPr>
        <p:txBody>
          <a:bodyPr anchor="t" rtlCol="false" tIns="0" lIns="0" bIns="0" rIns="0">
            <a:spAutoFit/>
          </a:bodyPr>
          <a:lstStyle/>
          <a:p>
            <a:pPr algn="ctr">
              <a:lnSpc>
                <a:spcPts val="6554"/>
              </a:lnSpc>
            </a:pPr>
            <a:r>
              <a:rPr lang="en-US" b="true" sz="4682">
                <a:solidFill>
                  <a:srgbClr val="000000"/>
                </a:solidFill>
                <a:latin typeface="League Spartan"/>
                <a:ea typeface="League Spartan"/>
                <a:cs typeface="League Spartan"/>
                <a:sym typeface="League Spartan"/>
              </a:rPr>
              <a:t>4</a:t>
            </a:r>
          </a:p>
        </p:txBody>
      </p:sp>
      <p:grpSp>
        <p:nvGrpSpPr>
          <p:cNvPr name="Group 23" id="23"/>
          <p:cNvGrpSpPr/>
          <p:nvPr/>
        </p:nvGrpSpPr>
        <p:grpSpPr>
          <a:xfrm rot="0">
            <a:off x="7688954" y="6228524"/>
            <a:ext cx="910671" cy="91067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5" id="25"/>
            <p:cNvSpPr txBox="true"/>
            <p:nvPr/>
          </p:nvSpPr>
          <p:spPr>
            <a:xfrm>
              <a:off x="76200" y="28575"/>
              <a:ext cx="660400" cy="708025"/>
            </a:xfrm>
            <a:prstGeom prst="rect">
              <a:avLst/>
            </a:prstGeom>
          </p:spPr>
          <p:txBody>
            <a:bodyPr anchor="ctr" rtlCol="false" tIns="26382" lIns="26382" bIns="26382" rIns="26382"/>
            <a:lstStyle/>
            <a:p>
              <a:pPr algn="ctr">
                <a:lnSpc>
                  <a:spcPts val="2659"/>
                </a:lnSpc>
              </a:pPr>
            </a:p>
          </p:txBody>
        </p:sp>
      </p:grpSp>
      <p:sp>
        <p:nvSpPr>
          <p:cNvPr name="TextBox 26" id="26"/>
          <p:cNvSpPr txBox="true"/>
          <p:nvPr/>
        </p:nvSpPr>
        <p:spPr>
          <a:xfrm rot="0">
            <a:off x="7748529" y="6379580"/>
            <a:ext cx="851096" cy="677587"/>
          </a:xfrm>
          <a:prstGeom prst="rect">
            <a:avLst/>
          </a:prstGeom>
        </p:spPr>
        <p:txBody>
          <a:bodyPr anchor="t" rtlCol="false" tIns="0" lIns="0" bIns="0" rIns="0">
            <a:spAutoFit/>
          </a:bodyPr>
          <a:lstStyle/>
          <a:p>
            <a:pPr algn="ctr">
              <a:lnSpc>
                <a:spcPts val="5568"/>
              </a:lnSpc>
            </a:pPr>
            <a:r>
              <a:rPr lang="en-US" b="true" sz="3977">
                <a:solidFill>
                  <a:srgbClr val="000000"/>
                </a:solidFill>
                <a:latin typeface="League Spartan"/>
                <a:ea typeface="League Spartan"/>
                <a:cs typeface="League Spartan"/>
                <a:sym typeface="League Spartan"/>
              </a:rPr>
              <a:t>3</a:t>
            </a:r>
          </a:p>
        </p:txBody>
      </p:sp>
      <p:sp>
        <p:nvSpPr>
          <p:cNvPr name="TextBox 27" id="27"/>
          <p:cNvSpPr txBox="true"/>
          <p:nvPr/>
        </p:nvSpPr>
        <p:spPr>
          <a:xfrm rot="0">
            <a:off x="10825591" y="2003620"/>
            <a:ext cx="5948366" cy="1308100"/>
          </a:xfrm>
          <a:prstGeom prst="rect">
            <a:avLst/>
          </a:prstGeom>
        </p:spPr>
        <p:txBody>
          <a:bodyPr anchor="t" rtlCol="false" tIns="0" lIns="0" bIns="0" rIns="0">
            <a:spAutoFit/>
          </a:bodyPr>
          <a:lstStyle/>
          <a:p>
            <a:pPr algn="l">
              <a:lnSpc>
                <a:spcPts val="3500"/>
              </a:lnSpc>
              <a:spcBef>
                <a:spcPct val="0"/>
              </a:spcBef>
            </a:pPr>
            <a:r>
              <a:rPr lang="en-US" sz="2500">
                <a:solidFill>
                  <a:srgbClr val="FFFFFF"/>
                </a:solidFill>
                <a:latin typeface="Caladea"/>
                <a:ea typeface="Caladea"/>
                <a:cs typeface="Caladea"/>
                <a:sym typeface="Caladea"/>
              </a:rPr>
              <a:t>Implement threshold-based alerting to detect environmental hazards like overheating or poor air quality.</a:t>
            </a:r>
          </a:p>
        </p:txBody>
      </p:sp>
      <p:sp>
        <p:nvSpPr>
          <p:cNvPr name="TextBox 28" id="28"/>
          <p:cNvSpPr txBox="true"/>
          <p:nvPr/>
        </p:nvSpPr>
        <p:spPr>
          <a:xfrm rot="0">
            <a:off x="10825591" y="4057249"/>
            <a:ext cx="5948366" cy="1308100"/>
          </a:xfrm>
          <a:prstGeom prst="rect">
            <a:avLst/>
          </a:prstGeom>
        </p:spPr>
        <p:txBody>
          <a:bodyPr anchor="t" rtlCol="false" tIns="0" lIns="0" bIns="0" rIns="0">
            <a:spAutoFit/>
          </a:bodyPr>
          <a:lstStyle/>
          <a:p>
            <a:pPr algn="l">
              <a:lnSpc>
                <a:spcPts val="3500"/>
              </a:lnSpc>
              <a:spcBef>
                <a:spcPct val="0"/>
              </a:spcBef>
            </a:pPr>
            <a:r>
              <a:rPr lang="en-US" sz="2500">
                <a:solidFill>
                  <a:srgbClr val="FFFFFF"/>
                </a:solidFill>
                <a:latin typeface="Caladea"/>
                <a:ea typeface="Caladea"/>
                <a:cs typeface="Caladea"/>
                <a:sym typeface="Caladea"/>
              </a:rPr>
              <a:t>Establish automated pipelines to continuously collect temperature, humidity, CO₂, and light intensity data</a:t>
            </a:r>
          </a:p>
        </p:txBody>
      </p:sp>
      <p:sp>
        <p:nvSpPr>
          <p:cNvPr name="TextBox 29" id="29"/>
          <p:cNvSpPr txBox="true"/>
          <p:nvPr/>
        </p:nvSpPr>
        <p:spPr>
          <a:xfrm rot="0">
            <a:off x="10825591" y="6261099"/>
            <a:ext cx="5948366" cy="1746250"/>
          </a:xfrm>
          <a:prstGeom prst="rect">
            <a:avLst/>
          </a:prstGeom>
        </p:spPr>
        <p:txBody>
          <a:bodyPr anchor="t" rtlCol="false" tIns="0" lIns="0" bIns="0" rIns="0">
            <a:spAutoFit/>
          </a:bodyPr>
          <a:lstStyle/>
          <a:p>
            <a:pPr algn="just">
              <a:lnSpc>
                <a:spcPts val="3500"/>
              </a:lnSpc>
            </a:pPr>
            <a:r>
              <a:rPr lang="en-US" sz="2500">
                <a:solidFill>
                  <a:srgbClr val="FFFFFF"/>
                </a:solidFill>
                <a:latin typeface="Caladea"/>
                <a:ea typeface="Caladea"/>
                <a:cs typeface="Caladea"/>
                <a:sym typeface="Caladea"/>
              </a:rPr>
              <a:t>Build comprehensive Grafana dashboards featuring heatmaps, graphs, and alert panels for intuitive data exploration.</a:t>
            </a:r>
          </a:p>
          <a:p>
            <a:pPr algn="just">
              <a:lnSpc>
                <a:spcPts val="3500"/>
              </a:lnSpc>
              <a:spcBef>
                <a:spcPct val="0"/>
              </a:spcBef>
            </a:pPr>
          </a:p>
        </p:txBody>
      </p:sp>
      <p:grpSp>
        <p:nvGrpSpPr>
          <p:cNvPr name="Group 30" id="30"/>
          <p:cNvGrpSpPr/>
          <p:nvPr/>
        </p:nvGrpSpPr>
        <p:grpSpPr>
          <a:xfrm rot="0">
            <a:off x="9510458" y="2060770"/>
            <a:ext cx="934133" cy="93413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2" id="32"/>
            <p:cNvSpPr txBox="true"/>
            <p:nvPr/>
          </p:nvSpPr>
          <p:spPr>
            <a:xfrm>
              <a:off x="76200" y="28575"/>
              <a:ext cx="660400" cy="708025"/>
            </a:xfrm>
            <a:prstGeom prst="rect">
              <a:avLst/>
            </a:prstGeom>
          </p:spPr>
          <p:txBody>
            <a:bodyPr anchor="ctr" rtlCol="false" tIns="25400" lIns="25400" bIns="25400" rIns="25400"/>
            <a:lstStyle/>
            <a:p>
              <a:pPr algn="ctr">
                <a:lnSpc>
                  <a:spcPts val="2659"/>
                </a:lnSpc>
              </a:pPr>
            </a:p>
          </p:txBody>
        </p:sp>
      </p:grpSp>
      <p:sp>
        <p:nvSpPr>
          <p:cNvPr name="TextBox 33" id="33"/>
          <p:cNvSpPr txBox="true"/>
          <p:nvPr/>
        </p:nvSpPr>
        <p:spPr>
          <a:xfrm rot="0">
            <a:off x="9567815" y="2203367"/>
            <a:ext cx="819418" cy="667989"/>
          </a:xfrm>
          <a:prstGeom prst="rect">
            <a:avLst/>
          </a:prstGeom>
        </p:spPr>
        <p:txBody>
          <a:bodyPr anchor="t" rtlCol="false" tIns="0" lIns="0" bIns="0" rIns="0">
            <a:spAutoFit/>
          </a:bodyPr>
          <a:lstStyle/>
          <a:p>
            <a:pPr algn="ctr">
              <a:lnSpc>
                <a:spcPts val="5501"/>
              </a:lnSpc>
            </a:pPr>
            <a:r>
              <a:rPr lang="en-US" b="true" sz="3929">
                <a:solidFill>
                  <a:srgbClr val="000000"/>
                </a:solidFill>
                <a:latin typeface="League Spartan"/>
                <a:ea typeface="League Spartan"/>
                <a:cs typeface="League Spartan"/>
                <a:sym typeface="League Spartan"/>
              </a:rPr>
              <a:t>5</a:t>
            </a:r>
          </a:p>
        </p:txBody>
      </p:sp>
      <p:grpSp>
        <p:nvGrpSpPr>
          <p:cNvPr name="Group 34" id="34"/>
          <p:cNvGrpSpPr/>
          <p:nvPr/>
        </p:nvGrpSpPr>
        <p:grpSpPr>
          <a:xfrm rot="0">
            <a:off x="9555159" y="4232129"/>
            <a:ext cx="934133" cy="934133"/>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6" id="36"/>
            <p:cNvSpPr txBox="true"/>
            <p:nvPr/>
          </p:nvSpPr>
          <p:spPr>
            <a:xfrm>
              <a:off x="76200" y="28575"/>
              <a:ext cx="660400" cy="708025"/>
            </a:xfrm>
            <a:prstGeom prst="rect">
              <a:avLst/>
            </a:prstGeom>
          </p:spPr>
          <p:txBody>
            <a:bodyPr anchor="ctr" rtlCol="false" tIns="25400" lIns="25400" bIns="25400" rIns="25400"/>
            <a:lstStyle/>
            <a:p>
              <a:pPr algn="ctr">
                <a:lnSpc>
                  <a:spcPts val="2659"/>
                </a:lnSpc>
              </a:pPr>
            </a:p>
          </p:txBody>
        </p:sp>
      </p:grpSp>
      <p:sp>
        <p:nvSpPr>
          <p:cNvPr name="TextBox 37" id="37"/>
          <p:cNvSpPr txBox="true"/>
          <p:nvPr/>
        </p:nvSpPr>
        <p:spPr>
          <a:xfrm rot="0">
            <a:off x="9612516" y="4374726"/>
            <a:ext cx="819418" cy="667989"/>
          </a:xfrm>
          <a:prstGeom prst="rect">
            <a:avLst/>
          </a:prstGeom>
        </p:spPr>
        <p:txBody>
          <a:bodyPr anchor="t" rtlCol="false" tIns="0" lIns="0" bIns="0" rIns="0">
            <a:spAutoFit/>
          </a:bodyPr>
          <a:lstStyle/>
          <a:p>
            <a:pPr algn="ctr">
              <a:lnSpc>
                <a:spcPts val="5501"/>
              </a:lnSpc>
            </a:pPr>
            <a:r>
              <a:rPr lang="en-US" b="true" sz="3929">
                <a:solidFill>
                  <a:srgbClr val="000000"/>
                </a:solidFill>
                <a:latin typeface="League Spartan"/>
                <a:ea typeface="League Spartan"/>
                <a:cs typeface="League Spartan"/>
                <a:sym typeface="League Spartan"/>
              </a:rPr>
              <a:t>6</a:t>
            </a:r>
          </a:p>
        </p:txBody>
      </p:sp>
      <p:grpSp>
        <p:nvGrpSpPr>
          <p:cNvPr name="Group 38" id="38"/>
          <p:cNvGrpSpPr/>
          <p:nvPr/>
        </p:nvGrpSpPr>
        <p:grpSpPr>
          <a:xfrm rot="0">
            <a:off x="9555159" y="6345760"/>
            <a:ext cx="934133" cy="934133"/>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40" id="40"/>
            <p:cNvSpPr txBox="true"/>
            <p:nvPr/>
          </p:nvSpPr>
          <p:spPr>
            <a:xfrm>
              <a:off x="76200" y="28575"/>
              <a:ext cx="660400" cy="708025"/>
            </a:xfrm>
            <a:prstGeom prst="rect">
              <a:avLst/>
            </a:prstGeom>
          </p:spPr>
          <p:txBody>
            <a:bodyPr anchor="ctr" rtlCol="false" tIns="25400" lIns="25400" bIns="25400" rIns="25400"/>
            <a:lstStyle/>
            <a:p>
              <a:pPr algn="ctr">
                <a:lnSpc>
                  <a:spcPts val="2659"/>
                </a:lnSpc>
              </a:pPr>
            </a:p>
          </p:txBody>
        </p:sp>
      </p:grpSp>
      <p:sp>
        <p:nvSpPr>
          <p:cNvPr name="TextBox 41" id="41"/>
          <p:cNvSpPr txBox="true"/>
          <p:nvPr/>
        </p:nvSpPr>
        <p:spPr>
          <a:xfrm rot="0">
            <a:off x="9612516" y="6488357"/>
            <a:ext cx="819418" cy="667989"/>
          </a:xfrm>
          <a:prstGeom prst="rect">
            <a:avLst/>
          </a:prstGeom>
        </p:spPr>
        <p:txBody>
          <a:bodyPr anchor="t" rtlCol="false" tIns="0" lIns="0" bIns="0" rIns="0">
            <a:spAutoFit/>
          </a:bodyPr>
          <a:lstStyle/>
          <a:p>
            <a:pPr algn="ctr">
              <a:lnSpc>
                <a:spcPts val="5501"/>
              </a:lnSpc>
            </a:pPr>
            <a:r>
              <a:rPr lang="en-US" b="true" sz="3929">
                <a:solidFill>
                  <a:srgbClr val="000000"/>
                </a:solidFill>
                <a:latin typeface="League Spartan"/>
                <a:ea typeface="League Spartan"/>
                <a:cs typeface="League Spartan"/>
                <a:sym typeface="League Spartan"/>
              </a:rPr>
              <a:t>7</a:t>
            </a:r>
          </a:p>
        </p:txBody>
      </p:sp>
      <p:sp>
        <p:nvSpPr>
          <p:cNvPr name="TextBox 42" id="42"/>
          <p:cNvSpPr txBox="true"/>
          <p:nvPr/>
        </p:nvSpPr>
        <p:spPr>
          <a:xfrm rot="0">
            <a:off x="17030601" y="9116169"/>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FFFFFF"/>
                </a:solidFill>
                <a:latin typeface="Archivo Black"/>
                <a:ea typeface="Archivo Black"/>
                <a:cs typeface="Archivo Black"/>
                <a:sym typeface="Archivo Black"/>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4078" y="154089"/>
            <a:ext cx="6004560" cy="9991900"/>
          </a:xfrm>
          <a:custGeom>
            <a:avLst/>
            <a:gdLst/>
            <a:ahLst/>
            <a:cxnLst/>
            <a:rect r="r" b="b" t="t" l="l"/>
            <a:pathLst>
              <a:path h="9991900" w="6004560">
                <a:moveTo>
                  <a:pt x="0" y="0"/>
                </a:moveTo>
                <a:lnTo>
                  <a:pt x="6004560" y="0"/>
                </a:lnTo>
                <a:lnTo>
                  <a:pt x="6004560" y="9991900"/>
                </a:lnTo>
                <a:lnTo>
                  <a:pt x="0" y="9991900"/>
                </a:lnTo>
                <a:lnTo>
                  <a:pt x="0" y="0"/>
                </a:lnTo>
                <a:close/>
              </a:path>
            </a:pathLst>
          </a:custGeom>
          <a:blipFill>
            <a:blip r:embed="rId3"/>
            <a:stretch>
              <a:fillRect l="-899" t="-3329" r="0" b="-3329"/>
            </a:stretch>
          </a:blipFill>
        </p:spPr>
      </p:sp>
      <p:sp>
        <p:nvSpPr>
          <p:cNvPr name="TextBox 4" id="4"/>
          <p:cNvSpPr txBox="true"/>
          <p:nvPr/>
        </p:nvSpPr>
        <p:spPr>
          <a:xfrm rot="0">
            <a:off x="8086192" y="442074"/>
            <a:ext cx="9173108" cy="815146"/>
          </a:xfrm>
          <a:prstGeom prst="rect">
            <a:avLst/>
          </a:prstGeom>
        </p:spPr>
        <p:txBody>
          <a:bodyPr anchor="t" rtlCol="false" tIns="0" lIns="0" bIns="0" rIns="0">
            <a:spAutoFit/>
          </a:bodyPr>
          <a:lstStyle/>
          <a:p>
            <a:pPr algn="ctr">
              <a:lnSpc>
                <a:spcPts val="6628"/>
              </a:lnSpc>
            </a:pPr>
            <a:r>
              <a:rPr lang="en-US" b="true" sz="4734">
                <a:solidFill>
                  <a:srgbClr val="004AAD"/>
                </a:solidFill>
                <a:latin typeface="League Spartan"/>
                <a:ea typeface="League Spartan"/>
                <a:cs typeface="League Spartan"/>
                <a:sym typeface="League Spartan"/>
              </a:rPr>
              <a:t>SYSTEM ARCHITECTURE</a:t>
            </a:r>
          </a:p>
        </p:txBody>
      </p:sp>
      <p:sp>
        <p:nvSpPr>
          <p:cNvPr name="TextBox 5" id="5"/>
          <p:cNvSpPr txBox="true"/>
          <p:nvPr/>
        </p:nvSpPr>
        <p:spPr>
          <a:xfrm rot="0">
            <a:off x="7117866" y="1504870"/>
            <a:ext cx="10820798" cy="2223135"/>
          </a:xfrm>
          <a:prstGeom prst="rect">
            <a:avLst/>
          </a:prstGeom>
        </p:spPr>
        <p:txBody>
          <a:bodyPr anchor="t" rtlCol="false" tIns="0" lIns="0" bIns="0" rIns="0">
            <a:spAutoFit/>
          </a:bodyPr>
          <a:lstStyle/>
          <a:p>
            <a:pPr algn="just">
              <a:lnSpc>
                <a:spcPts val="2940"/>
              </a:lnSpc>
              <a:spcBef>
                <a:spcPct val="0"/>
              </a:spcBef>
            </a:pPr>
            <a:r>
              <a:rPr lang="en-US" sz="2100">
                <a:solidFill>
                  <a:srgbClr val="303642"/>
                </a:solidFill>
                <a:latin typeface="Archivo Black"/>
                <a:ea typeface="Archivo Black"/>
                <a:cs typeface="Archivo Black"/>
                <a:sym typeface="Archivo Black"/>
              </a:rPr>
              <a:t>Simulati</a:t>
            </a:r>
            <a:r>
              <a:rPr lang="en-US" sz="2100">
                <a:solidFill>
                  <a:srgbClr val="303642"/>
                </a:solidFill>
                <a:latin typeface="Archivo Black"/>
                <a:ea typeface="Archivo Black"/>
                <a:cs typeface="Archivo Black"/>
                <a:sym typeface="Archivo Black"/>
              </a:rPr>
              <a:t>on Layer:</a:t>
            </a:r>
          </a:p>
          <a:p>
            <a:pPr algn="just" marL="453390" indent="-226695" lvl="1">
              <a:lnSpc>
                <a:spcPts val="2940"/>
              </a:lnSpc>
              <a:spcBef>
                <a:spcPct val="0"/>
              </a:spcBef>
              <a:buFont typeface="Arial"/>
              <a:buChar char="•"/>
            </a:pPr>
            <a:r>
              <a:rPr lang="en-US" sz="2100">
                <a:solidFill>
                  <a:srgbClr val="737373"/>
                </a:solidFill>
                <a:latin typeface="Archivo Black"/>
                <a:ea typeface="Archivo Black"/>
                <a:cs typeface="Archivo Black"/>
                <a:sym typeface="Archivo Black"/>
              </a:rPr>
              <a:t>Implemented using Mininet</a:t>
            </a:r>
          </a:p>
          <a:p>
            <a:pPr algn="just" marL="453390" indent="-226695" lvl="1">
              <a:lnSpc>
                <a:spcPts val="2940"/>
              </a:lnSpc>
              <a:spcBef>
                <a:spcPct val="0"/>
              </a:spcBef>
              <a:buFont typeface="Arial"/>
              <a:buChar char="•"/>
            </a:pPr>
            <a:r>
              <a:rPr lang="en-US" sz="2100">
                <a:solidFill>
                  <a:srgbClr val="737373"/>
                </a:solidFill>
                <a:latin typeface="Archivo Black"/>
                <a:ea typeface="Archivo Black"/>
                <a:cs typeface="Archivo Black"/>
                <a:sym typeface="Archivo Black"/>
              </a:rPr>
              <a:t>Each host acts as a simulated IoT sensor node</a:t>
            </a:r>
          </a:p>
          <a:p>
            <a:pPr algn="just" marL="453390" indent="-226695" lvl="1">
              <a:lnSpc>
                <a:spcPts val="2940"/>
              </a:lnSpc>
              <a:spcBef>
                <a:spcPct val="0"/>
              </a:spcBef>
              <a:buFont typeface="Arial"/>
              <a:buChar char="•"/>
            </a:pPr>
            <a:r>
              <a:rPr lang="en-US" sz="2100">
                <a:solidFill>
                  <a:srgbClr val="737373"/>
                </a:solidFill>
                <a:latin typeface="Archivo Black"/>
                <a:ea typeface="Archivo Black"/>
                <a:cs typeface="Archivo Black"/>
                <a:sym typeface="Archivo Black"/>
              </a:rPr>
              <a:t>Generates data (Temperature, Humidity, Light, Air Quality)</a:t>
            </a:r>
          </a:p>
          <a:p>
            <a:pPr algn="just" marL="453390" indent="-226695" lvl="1">
              <a:lnSpc>
                <a:spcPts val="2940"/>
              </a:lnSpc>
              <a:spcBef>
                <a:spcPct val="0"/>
              </a:spcBef>
              <a:buFont typeface="Arial"/>
              <a:buChar char="•"/>
            </a:pPr>
            <a:r>
              <a:rPr lang="en-US" sz="2100">
                <a:solidFill>
                  <a:srgbClr val="737373"/>
                </a:solidFill>
                <a:latin typeface="Archivo Black"/>
                <a:ea typeface="Archivo Black"/>
                <a:cs typeface="Archivo Black"/>
                <a:sym typeface="Archivo Black"/>
              </a:rPr>
              <a:t>Publish readings via MQTT topics (e.g., sensors/temperature/CR101/h1)</a:t>
            </a:r>
          </a:p>
          <a:p>
            <a:pPr algn="just">
              <a:lnSpc>
                <a:spcPts val="2940"/>
              </a:lnSpc>
              <a:spcBef>
                <a:spcPct val="0"/>
              </a:spcBef>
            </a:pPr>
          </a:p>
        </p:txBody>
      </p:sp>
      <p:sp>
        <p:nvSpPr>
          <p:cNvPr name="TextBox 6" id="6"/>
          <p:cNvSpPr txBox="true"/>
          <p:nvPr/>
        </p:nvSpPr>
        <p:spPr>
          <a:xfrm rot="0">
            <a:off x="7217171" y="3975656"/>
            <a:ext cx="10721493" cy="1779202"/>
          </a:xfrm>
          <a:prstGeom prst="rect">
            <a:avLst/>
          </a:prstGeom>
        </p:spPr>
        <p:txBody>
          <a:bodyPr anchor="t" rtlCol="false" tIns="0" lIns="0" bIns="0" rIns="0">
            <a:spAutoFit/>
          </a:bodyPr>
          <a:lstStyle/>
          <a:p>
            <a:pPr algn="l">
              <a:lnSpc>
                <a:spcPts val="2821"/>
              </a:lnSpc>
              <a:spcBef>
                <a:spcPct val="0"/>
              </a:spcBef>
            </a:pPr>
            <a:r>
              <a:rPr lang="en-US" sz="2015">
                <a:solidFill>
                  <a:srgbClr val="303642"/>
                </a:solidFill>
                <a:latin typeface="Archivo Black"/>
                <a:ea typeface="Archivo Black"/>
                <a:cs typeface="Archivo Black"/>
                <a:sym typeface="Archivo Black"/>
              </a:rPr>
              <a:t>C</a:t>
            </a:r>
            <a:r>
              <a:rPr lang="en-US" sz="2015">
                <a:solidFill>
                  <a:srgbClr val="303642"/>
                </a:solidFill>
                <a:latin typeface="Archivo Black"/>
                <a:ea typeface="Archivo Black"/>
                <a:cs typeface="Archivo Black"/>
                <a:sym typeface="Archivo Black"/>
              </a:rPr>
              <a:t>ommunication Layer:</a:t>
            </a:r>
          </a:p>
          <a:p>
            <a:pPr algn="l" marL="435178" indent="-217589" lvl="1">
              <a:lnSpc>
                <a:spcPts val="2821"/>
              </a:lnSpc>
              <a:spcBef>
                <a:spcPct val="0"/>
              </a:spcBef>
              <a:buFont typeface="Arial"/>
              <a:buChar char="•"/>
            </a:pPr>
            <a:r>
              <a:rPr lang="en-US" sz="2015">
                <a:solidFill>
                  <a:srgbClr val="737373"/>
                </a:solidFill>
                <a:latin typeface="Archivo Black"/>
                <a:ea typeface="Archivo Black"/>
                <a:cs typeface="Archivo Black"/>
                <a:sym typeface="Archivo Black"/>
              </a:rPr>
              <a:t>Mosquitto MQTT Broker routes messages between publishers and subscribers</a:t>
            </a:r>
          </a:p>
          <a:p>
            <a:pPr algn="l" marL="435178" indent="-217589" lvl="1">
              <a:lnSpc>
                <a:spcPts val="2821"/>
              </a:lnSpc>
              <a:spcBef>
                <a:spcPct val="0"/>
              </a:spcBef>
              <a:buFont typeface="Arial"/>
              <a:buChar char="•"/>
            </a:pPr>
            <a:r>
              <a:rPr lang="en-US" sz="2015">
                <a:solidFill>
                  <a:srgbClr val="737373"/>
                </a:solidFill>
                <a:latin typeface="Archivo Black"/>
                <a:ea typeface="Archivo Black"/>
                <a:cs typeface="Archivo Black"/>
                <a:sym typeface="Archivo Black"/>
              </a:rPr>
              <a:t>Enables lightweight, real-time data transfer</a:t>
            </a:r>
          </a:p>
          <a:p>
            <a:pPr algn="l">
              <a:lnSpc>
                <a:spcPts val="2821"/>
              </a:lnSpc>
              <a:spcBef>
                <a:spcPct val="0"/>
              </a:spcBef>
            </a:pPr>
          </a:p>
        </p:txBody>
      </p:sp>
      <p:sp>
        <p:nvSpPr>
          <p:cNvPr name="TextBox 7" id="7"/>
          <p:cNvSpPr txBox="true"/>
          <p:nvPr/>
        </p:nvSpPr>
        <p:spPr>
          <a:xfrm rot="0">
            <a:off x="7117866" y="6076633"/>
            <a:ext cx="10820798" cy="1444226"/>
          </a:xfrm>
          <a:prstGeom prst="rect">
            <a:avLst/>
          </a:prstGeom>
        </p:spPr>
        <p:txBody>
          <a:bodyPr anchor="t" rtlCol="false" tIns="0" lIns="0" bIns="0" rIns="0">
            <a:spAutoFit/>
          </a:bodyPr>
          <a:lstStyle/>
          <a:p>
            <a:pPr algn="l">
              <a:lnSpc>
                <a:spcPts val="2866"/>
              </a:lnSpc>
            </a:pPr>
            <a:r>
              <a:rPr lang="en-US" sz="2047">
                <a:solidFill>
                  <a:srgbClr val="303642"/>
                </a:solidFill>
                <a:latin typeface="Archivo Black"/>
                <a:ea typeface="Archivo Black"/>
                <a:cs typeface="Archivo Black"/>
                <a:sym typeface="Archivo Black"/>
              </a:rPr>
              <a:t>Processing Layer:</a:t>
            </a:r>
          </a:p>
          <a:p>
            <a:pPr algn="l" marL="442008" indent="-221004" lvl="1">
              <a:lnSpc>
                <a:spcPts val="2866"/>
              </a:lnSpc>
              <a:spcBef>
                <a:spcPct val="0"/>
              </a:spcBef>
              <a:buFont typeface="Arial"/>
              <a:buChar char="•"/>
            </a:pPr>
            <a:r>
              <a:rPr lang="en-US" sz="2047">
                <a:solidFill>
                  <a:srgbClr val="737373"/>
                </a:solidFill>
                <a:latin typeface="Archivo Black"/>
                <a:ea typeface="Archivo Black"/>
                <a:cs typeface="Archivo Black"/>
                <a:sym typeface="Archivo Black"/>
              </a:rPr>
              <a:t>Data Collect</a:t>
            </a:r>
            <a:r>
              <a:rPr lang="en-US" sz="2047">
                <a:solidFill>
                  <a:srgbClr val="737373"/>
                </a:solidFill>
                <a:latin typeface="Archivo Black"/>
                <a:ea typeface="Archivo Black"/>
                <a:cs typeface="Archivo Black"/>
                <a:sym typeface="Archivo Black"/>
              </a:rPr>
              <a:t>or Service: Stores sensor data into InfluxDB (time-series DB)</a:t>
            </a:r>
          </a:p>
          <a:p>
            <a:pPr algn="l" marL="442008" indent="-221004" lvl="1">
              <a:lnSpc>
                <a:spcPts val="2866"/>
              </a:lnSpc>
              <a:spcBef>
                <a:spcPct val="0"/>
              </a:spcBef>
              <a:buFont typeface="Arial"/>
              <a:buChar char="•"/>
            </a:pPr>
            <a:r>
              <a:rPr lang="en-US" sz="2047">
                <a:solidFill>
                  <a:srgbClr val="737373"/>
                </a:solidFill>
                <a:latin typeface="Archivo Black"/>
                <a:ea typeface="Archivo Black"/>
                <a:cs typeface="Archivo Black"/>
                <a:sym typeface="Archivo Black"/>
              </a:rPr>
              <a:t>Anomaly Detector Service: Detects abnormal readings and logs alerts</a:t>
            </a:r>
          </a:p>
          <a:p>
            <a:pPr algn="l">
              <a:lnSpc>
                <a:spcPts val="2866"/>
              </a:lnSpc>
              <a:spcBef>
                <a:spcPct val="0"/>
              </a:spcBef>
            </a:pPr>
          </a:p>
        </p:txBody>
      </p:sp>
      <p:sp>
        <p:nvSpPr>
          <p:cNvPr name="TextBox 8" id="8"/>
          <p:cNvSpPr txBox="true"/>
          <p:nvPr/>
        </p:nvSpPr>
        <p:spPr>
          <a:xfrm rot="0">
            <a:off x="7117866" y="8033068"/>
            <a:ext cx="10141434" cy="1869500"/>
          </a:xfrm>
          <a:prstGeom prst="rect">
            <a:avLst/>
          </a:prstGeom>
        </p:spPr>
        <p:txBody>
          <a:bodyPr anchor="t" rtlCol="false" tIns="0" lIns="0" bIns="0" rIns="0">
            <a:spAutoFit/>
          </a:bodyPr>
          <a:lstStyle/>
          <a:p>
            <a:pPr algn="l">
              <a:lnSpc>
                <a:spcPts val="2969"/>
              </a:lnSpc>
            </a:pPr>
            <a:r>
              <a:rPr lang="en-US" sz="2120">
                <a:solidFill>
                  <a:srgbClr val="303642"/>
                </a:solidFill>
                <a:latin typeface="Archivo Black"/>
                <a:ea typeface="Archivo Black"/>
                <a:cs typeface="Archivo Black"/>
                <a:sym typeface="Archivo Black"/>
              </a:rPr>
              <a:t>Visualization Layer:</a:t>
            </a:r>
          </a:p>
          <a:p>
            <a:pPr algn="l" marL="457872" indent="-228936" lvl="1">
              <a:lnSpc>
                <a:spcPts val="2969"/>
              </a:lnSpc>
              <a:buFont typeface="Arial"/>
              <a:buChar char="•"/>
            </a:pPr>
            <a:r>
              <a:rPr lang="en-US" sz="2120">
                <a:solidFill>
                  <a:srgbClr val="737373"/>
                </a:solidFill>
                <a:latin typeface="Archivo Black"/>
                <a:ea typeface="Archivo Black"/>
                <a:cs typeface="Archivo Black"/>
                <a:sym typeface="Archivo Black"/>
              </a:rPr>
              <a:t>Grafana Dashboard displays real-time and historical trends</a:t>
            </a:r>
          </a:p>
          <a:p>
            <a:pPr algn="l" marL="457872" indent="-228936" lvl="1">
              <a:lnSpc>
                <a:spcPts val="2969"/>
              </a:lnSpc>
              <a:buFont typeface="Arial"/>
              <a:buChar char="•"/>
            </a:pPr>
            <a:r>
              <a:rPr lang="en-US" sz="2120">
                <a:solidFill>
                  <a:srgbClr val="737373"/>
                </a:solidFill>
                <a:latin typeface="Archivo Black"/>
                <a:ea typeface="Archivo Black"/>
                <a:cs typeface="Archivo Black"/>
                <a:sym typeface="Archivo Black"/>
              </a:rPr>
              <a:t>Also a</a:t>
            </a:r>
            <a:r>
              <a:rPr lang="en-US" sz="2120">
                <a:solidFill>
                  <a:srgbClr val="737373"/>
                </a:solidFill>
                <a:latin typeface="Archivo Black"/>
                <a:ea typeface="Archivo Black"/>
                <a:cs typeface="Archivo Black"/>
                <a:sym typeface="Archivo Black"/>
              </a:rPr>
              <a:t>ccessible via a web browser for centralized room monitoring</a:t>
            </a:r>
          </a:p>
          <a:p>
            <a:pPr algn="l">
              <a:lnSpc>
                <a:spcPts val="2969"/>
              </a:lnSpc>
              <a:spcBef>
                <a:spcPct val="0"/>
              </a:spcBef>
            </a:pPr>
          </a:p>
        </p:txBody>
      </p:sp>
      <p:sp>
        <p:nvSpPr>
          <p:cNvPr name="TextBox 9" id="9"/>
          <p:cNvSpPr txBox="true"/>
          <p:nvPr/>
        </p:nvSpPr>
        <p:spPr>
          <a:xfrm rot="0">
            <a:off x="17440736" y="9470269"/>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63531" y="611724"/>
            <a:ext cx="8680469" cy="6216481"/>
          </a:xfrm>
          <a:custGeom>
            <a:avLst/>
            <a:gdLst/>
            <a:ahLst/>
            <a:cxnLst/>
            <a:rect r="r" b="b" t="t" l="l"/>
            <a:pathLst>
              <a:path h="6216481" w="8680469">
                <a:moveTo>
                  <a:pt x="0" y="0"/>
                </a:moveTo>
                <a:lnTo>
                  <a:pt x="8680469" y="0"/>
                </a:lnTo>
                <a:lnTo>
                  <a:pt x="8680469" y="6216482"/>
                </a:lnTo>
                <a:lnTo>
                  <a:pt x="0" y="6216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233916" y="611724"/>
            <a:ext cx="8680469" cy="6216481"/>
          </a:xfrm>
          <a:custGeom>
            <a:avLst/>
            <a:gdLst/>
            <a:ahLst/>
            <a:cxnLst/>
            <a:rect r="r" b="b" t="t" l="l"/>
            <a:pathLst>
              <a:path h="6216481" w="8680469">
                <a:moveTo>
                  <a:pt x="0" y="0"/>
                </a:moveTo>
                <a:lnTo>
                  <a:pt x="8680468" y="0"/>
                </a:lnTo>
                <a:lnTo>
                  <a:pt x="8680468" y="6216482"/>
                </a:lnTo>
                <a:lnTo>
                  <a:pt x="0" y="6216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506480" y="1407328"/>
            <a:ext cx="5723020" cy="878840"/>
          </a:xfrm>
          <a:prstGeom prst="rect">
            <a:avLst/>
          </a:prstGeom>
        </p:spPr>
        <p:txBody>
          <a:bodyPr anchor="t" rtlCol="false" tIns="0" lIns="0" bIns="0" rIns="0">
            <a:spAutoFit/>
          </a:bodyPr>
          <a:lstStyle/>
          <a:p>
            <a:pPr algn="l">
              <a:lnSpc>
                <a:spcPts val="7210"/>
              </a:lnSpc>
            </a:pPr>
            <a:r>
              <a:rPr lang="en-US" sz="5150">
                <a:solidFill>
                  <a:srgbClr val="004AAD"/>
                </a:solidFill>
                <a:latin typeface="League Spartan"/>
                <a:ea typeface="League Spartan"/>
                <a:cs typeface="League Spartan"/>
                <a:sym typeface="League Spartan"/>
              </a:rPr>
              <a:t>WHY IS IT USED?</a:t>
            </a:r>
          </a:p>
        </p:txBody>
      </p:sp>
      <p:sp>
        <p:nvSpPr>
          <p:cNvPr name="TextBox 6" id="6"/>
          <p:cNvSpPr txBox="true"/>
          <p:nvPr/>
        </p:nvSpPr>
        <p:spPr>
          <a:xfrm rot="0">
            <a:off x="1875809" y="1015551"/>
            <a:ext cx="5855912" cy="878803"/>
          </a:xfrm>
          <a:prstGeom prst="rect">
            <a:avLst/>
          </a:prstGeom>
        </p:spPr>
        <p:txBody>
          <a:bodyPr anchor="t" rtlCol="false" tIns="0" lIns="0" bIns="0" rIns="0">
            <a:spAutoFit/>
          </a:bodyPr>
          <a:lstStyle/>
          <a:p>
            <a:pPr algn="l">
              <a:lnSpc>
                <a:spcPts val="7212"/>
              </a:lnSpc>
            </a:pPr>
            <a:r>
              <a:rPr lang="en-US" sz="5151">
                <a:solidFill>
                  <a:srgbClr val="004AAD"/>
                </a:solidFill>
                <a:latin typeface="League Spartan"/>
                <a:ea typeface="League Spartan"/>
                <a:cs typeface="League Spartan"/>
                <a:sym typeface="League Spartan"/>
              </a:rPr>
              <a:t>WHAT IS MQTT? </a:t>
            </a:r>
          </a:p>
        </p:txBody>
      </p:sp>
      <p:sp>
        <p:nvSpPr>
          <p:cNvPr name="TextBox 7" id="7"/>
          <p:cNvSpPr txBox="true"/>
          <p:nvPr/>
        </p:nvSpPr>
        <p:spPr>
          <a:xfrm rot="0">
            <a:off x="642190" y="1994546"/>
            <a:ext cx="8323152" cy="4121209"/>
          </a:xfrm>
          <a:prstGeom prst="rect">
            <a:avLst/>
          </a:prstGeom>
        </p:spPr>
        <p:txBody>
          <a:bodyPr anchor="t" rtlCol="false" tIns="0" lIns="0" bIns="0" rIns="0">
            <a:spAutoFit/>
          </a:bodyPr>
          <a:lstStyle/>
          <a:p>
            <a:pPr algn="l">
              <a:lnSpc>
                <a:spcPts val="2936"/>
              </a:lnSpc>
            </a:pPr>
            <a:r>
              <a:rPr lang="en-US" sz="2097" b="true">
                <a:solidFill>
                  <a:srgbClr val="000000"/>
                </a:solidFill>
                <a:latin typeface="Poppins Bold"/>
                <a:ea typeface="Poppins Bold"/>
                <a:cs typeface="Poppins Bold"/>
                <a:sym typeface="Poppins Bold"/>
              </a:rPr>
              <a:t>MQTT (Message Queuing Telemetry Transport)</a:t>
            </a:r>
          </a:p>
          <a:p>
            <a:pPr algn="l">
              <a:lnSpc>
                <a:spcPts val="2656"/>
              </a:lnSpc>
            </a:pPr>
          </a:p>
          <a:p>
            <a:pPr algn="l" marL="409711" indent="-204855" lvl="1">
              <a:lnSpc>
                <a:spcPts val="2656"/>
              </a:lnSpc>
              <a:buFont typeface="Arial"/>
              <a:buChar char="•"/>
            </a:pPr>
            <a:r>
              <a:rPr lang="en-US" sz="1897">
                <a:solidFill>
                  <a:srgbClr val="000000"/>
                </a:solidFill>
                <a:latin typeface="Poppins"/>
                <a:ea typeface="Poppins"/>
                <a:cs typeface="Poppins"/>
                <a:sym typeface="Poppins"/>
              </a:rPr>
              <a:t>A lightweight publish–subscribe protocol designed for IoT and sensor networks.</a:t>
            </a:r>
          </a:p>
          <a:p>
            <a:pPr algn="l">
              <a:lnSpc>
                <a:spcPts val="2656"/>
              </a:lnSpc>
            </a:pPr>
          </a:p>
          <a:p>
            <a:pPr algn="l" marL="452890" indent="-226445" lvl="1">
              <a:lnSpc>
                <a:spcPts val="2936"/>
              </a:lnSpc>
              <a:buFont typeface="Arial"/>
              <a:buChar char="•"/>
            </a:pPr>
            <a:r>
              <a:rPr lang="en-US" sz="2097">
                <a:solidFill>
                  <a:srgbClr val="000000"/>
                </a:solidFill>
                <a:latin typeface="Poppins"/>
                <a:ea typeface="Poppins"/>
                <a:cs typeface="Poppins"/>
                <a:sym typeface="Poppins"/>
              </a:rPr>
              <a:t>Works through a broker that routes messages between publishers (senders) and subscribers (receivers).</a:t>
            </a:r>
          </a:p>
          <a:p>
            <a:pPr algn="l">
              <a:lnSpc>
                <a:spcPts val="2656"/>
              </a:lnSpc>
            </a:pPr>
          </a:p>
          <a:p>
            <a:pPr algn="l" marL="409711" indent="-204855" lvl="1">
              <a:lnSpc>
                <a:spcPts val="2656"/>
              </a:lnSpc>
              <a:buFont typeface="Arial"/>
              <a:buChar char="•"/>
            </a:pPr>
            <a:r>
              <a:rPr lang="en-US" sz="1897">
                <a:solidFill>
                  <a:srgbClr val="000000"/>
                </a:solidFill>
                <a:latin typeface="Poppins"/>
                <a:ea typeface="Poppins"/>
                <a:cs typeface="Poppins"/>
                <a:sym typeface="Poppins"/>
              </a:rPr>
              <a:t>Operates over TCP/IP and uses minimal bandwidth.</a:t>
            </a:r>
          </a:p>
          <a:p>
            <a:pPr algn="l">
              <a:lnSpc>
                <a:spcPts val="2656"/>
              </a:lnSpc>
            </a:pPr>
          </a:p>
          <a:p>
            <a:pPr algn="l" marL="409711" indent="-204855" lvl="1">
              <a:lnSpc>
                <a:spcPts val="2656"/>
              </a:lnSpc>
              <a:buFont typeface="Arial"/>
              <a:buChar char="•"/>
            </a:pPr>
            <a:r>
              <a:rPr lang="en-US" sz="1897">
                <a:solidFill>
                  <a:srgbClr val="000000"/>
                </a:solidFill>
                <a:latin typeface="Poppins"/>
                <a:ea typeface="Poppins"/>
                <a:cs typeface="Poppins"/>
                <a:sym typeface="Poppins"/>
              </a:rPr>
              <a:t>Ideal for real-time, low-power, and high-latency environments</a:t>
            </a:r>
          </a:p>
          <a:p>
            <a:pPr algn="l">
              <a:lnSpc>
                <a:spcPts val="2656"/>
              </a:lnSpc>
              <a:spcBef>
                <a:spcPct val="0"/>
              </a:spcBef>
            </a:pPr>
          </a:p>
        </p:txBody>
      </p:sp>
      <p:sp>
        <p:nvSpPr>
          <p:cNvPr name="TextBox 8" id="8"/>
          <p:cNvSpPr txBox="true"/>
          <p:nvPr/>
        </p:nvSpPr>
        <p:spPr>
          <a:xfrm rot="0">
            <a:off x="9361094" y="2758650"/>
            <a:ext cx="8426113" cy="2593001"/>
          </a:xfrm>
          <a:prstGeom prst="rect">
            <a:avLst/>
          </a:prstGeom>
        </p:spPr>
        <p:txBody>
          <a:bodyPr anchor="t" rtlCol="false" tIns="0" lIns="0" bIns="0" rIns="0">
            <a:spAutoFit/>
          </a:bodyPr>
          <a:lstStyle/>
          <a:p>
            <a:pPr algn="l" marL="456265" indent="-228132" lvl="1">
              <a:lnSpc>
                <a:spcPts val="2958"/>
              </a:lnSpc>
              <a:buFont typeface="Arial"/>
              <a:buChar char="•"/>
            </a:pPr>
            <a:r>
              <a:rPr lang="en-US" sz="2113">
                <a:solidFill>
                  <a:srgbClr val="000000"/>
                </a:solidFill>
                <a:latin typeface="Poppins"/>
                <a:ea typeface="Poppins"/>
                <a:cs typeface="Poppins"/>
                <a:sym typeface="Poppins"/>
              </a:rPr>
              <a:t>Lightweight and efficient for large numbers of IoT sensors.</a:t>
            </a:r>
          </a:p>
          <a:p>
            <a:pPr algn="l">
              <a:lnSpc>
                <a:spcPts val="2958"/>
              </a:lnSpc>
            </a:pPr>
          </a:p>
          <a:p>
            <a:pPr algn="l" marL="456265" indent="-228132" lvl="1">
              <a:lnSpc>
                <a:spcPts val="2958"/>
              </a:lnSpc>
              <a:buFont typeface="Arial"/>
              <a:buChar char="•"/>
            </a:pPr>
            <a:r>
              <a:rPr lang="en-US" sz="2113">
                <a:solidFill>
                  <a:srgbClr val="000000"/>
                </a:solidFill>
                <a:latin typeface="Poppins"/>
                <a:ea typeface="Poppins"/>
                <a:cs typeface="Poppins"/>
                <a:sym typeface="Poppins"/>
              </a:rPr>
              <a:t> Reliable data delivery with low network overhead.</a:t>
            </a:r>
          </a:p>
          <a:p>
            <a:pPr algn="l">
              <a:lnSpc>
                <a:spcPts val="2958"/>
              </a:lnSpc>
            </a:pPr>
          </a:p>
          <a:p>
            <a:pPr algn="l" marL="456265" indent="-228132" lvl="1">
              <a:lnSpc>
                <a:spcPts val="2958"/>
              </a:lnSpc>
              <a:buFont typeface="Arial"/>
              <a:buChar char="•"/>
            </a:pPr>
            <a:r>
              <a:rPr lang="en-US" sz="2113">
                <a:solidFill>
                  <a:srgbClr val="000000"/>
                </a:solidFill>
                <a:latin typeface="Poppins"/>
                <a:ea typeface="Poppins"/>
                <a:cs typeface="Poppins"/>
                <a:sym typeface="Poppins"/>
              </a:rPr>
              <a:t>Supports topic-based filtering for flexible data routing.</a:t>
            </a:r>
          </a:p>
          <a:p>
            <a:pPr algn="l">
              <a:lnSpc>
                <a:spcPts val="2958"/>
              </a:lnSpc>
            </a:pPr>
          </a:p>
          <a:p>
            <a:pPr algn="l" marL="456265" indent="-228132" lvl="1">
              <a:lnSpc>
                <a:spcPts val="2958"/>
              </a:lnSpc>
              <a:buFont typeface="Arial"/>
              <a:buChar char="•"/>
            </a:pPr>
            <a:r>
              <a:rPr lang="en-US" sz="2113">
                <a:solidFill>
                  <a:srgbClr val="000000"/>
                </a:solidFill>
                <a:latin typeface="Poppins"/>
                <a:ea typeface="Poppins"/>
                <a:cs typeface="Poppins"/>
                <a:sym typeface="Poppins"/>
              </a:rPr>
              <a:t>Easy to integrate with Python, InfluxDB, and Grafana.</a:t>
            </a:r>
          </a:p>
        </p:txBody>
      </p:sp>
      <p:sp>
        <p:nvSpPr>
          <p:cNvPr name="TextBox 9" id="9"/>
          <p:cNvSpPr txBox="true"/>
          <p:nvPr/>
        </p:nvSpPr>
        <p:spPr>
          <a:xfrm rot="0">
            <a:off x="1301093" y="7113061"/>
            <a:ext cx="15685814" cy="2388184"/>
          </a:xfrm>
          <a:prstGeom prst="rect">
            <a:avLst/>
          </a:prstGeom>
        </p:spPr>
        <p:txBody>
          <a:bodyPr anchor="t" rtlCol="false" tIns="0" lIns="0" bIns="0" rIns="0">
            <a:spAutoFit/>
          </a:bodyPr>
          <a:lstStyle/>
          <a:p>
            <a:pPr algn="l">
              <a:lnSpc>
                <a:spcPts val="3502"/>
              </a:lnSpc>
            </a:pPr>
            <a:r>
              <a:rPr lang="en-US" sz="2501" b="true">
                <a:solidFill>
                  <a:srgbClr val="004AAD"/>
                </a:solidFill>
                <a:latin typeface="Canva Sans Bold"/>
                <a:ea typeface="Canva Sans Bold"/>
                <a:cs typeface="Canva Sans Bold"/>
                <a:sym typeface="Canva Sans Bold"/>
              </a:rPr>
              <a:t>Alternative Protocols (Not Used):</a:t>
            </a:r>
          </a:p>
          <a:p>
            <a:pPr algn="l" marL="475412" indent="-237706" lvl="1">
              <a:lnSpc>
                <a:spcPts val="3082"/>
              </a:lnSpc>
              <a:buFont typeface="Arial"/>
              <a:buChar char="•"/>
            </a:pPr>
            <a:r>
              <a:rPr lang="en-US" sz="2202">
                <a:solidFill>
                  <a:srgbClr val="545454"/>
                </a:solidFill>
                <a:latin typeface="Canva Sans"/>
                <a:ea typeface="Canva Sans"/>
                <a:cs typeface="Canva Sans"/>
                <a:sym typeface="Canva Sans"/>
              </a:rPr>
              <a:t>HTTP/REST: Heavyweight; adds overhead due to frequent connection setup.</a:t>
            </a:r>
          </a:p>
          <a:p>
            <a:pPr algn="l" marL="475412" indent="-237706" lvl="1">
              <a:lnSpc>
                <a:spcPts val="3082"/>
              </a:lnSpc>
              <a:buFont typeface="Arial"/>
              <a:buChar char="•"/>
            </a:pPr>
            <a:r>
              <a:rPr lang="en-US" sz="2202">
                <a:solidFill>
                  <a:srgbClr val="545454"/>
                </a:solidFill>
                <a:latin typeface="Canva Sans"/>
                <a:ea typeface="Canva Sans"/>
                <a:cs typeface="Canva Sans"/>
                <a:sym typeface="Canva Sans"/>
              </a:rPr>
              <a:t>CoAP (Constrained Application Protocol): Lightweight but limited broker support and a less mature ecosystem.</a:t>
            </a:r>
          </a:p>
          <a:p>
            <a:pPr algn="l" marL="475412" indent="-237706" lvl="1">
              <a:lnSpc>
                <a:spcPts val="3082"/>
              </a:lnSpc>
              <a:buFont typeface="Arial"/>
              <a:buChar char="•"/>
            </a:pPr>
            <a:r>
              <a:rPr lang="en-US" sz="2202">
                <a:solidFill>
                  <a:srgbClr val="545454"/>
                </a:solidFill>
                <a:latin typeface="Canva Sans"/>
                <a:ea typeface="Canva Sans"/>
                <a:cs typeface="Canva Sans"/>
                <a:sym typeface="Canva Sans"/>
              </a:rPr>
              <a:t>AMQP (Advanced Message Queuing Protocol): More complex, designed for enterprise messaging rather than IoT.</a:t>
            </a:r>
          </a:p>
          <a:p>
            <a:pPr algn="l" marL="475412" indent="-237706" lvl="1">
              <a:lnSpc>
                <a:spcPts val="3082"/>
              </a:lnSpc>
              <a:buFont typeface="Arial"/>
              <a:buChar char="•"/>
            </a:pPr>
            <a:r>
              <a:rPr lang="en-US" sz="2202">
                <a:solidFill>
                  <a:srgbClr val="545454"/>
                </a:solidFill>
                <a:latin typeface="Canva Sans"/>
                <a:ea typeface="Canva Sans"/>
                <a:cs typeface="Canva Sans"/>
                <a:sym typeface="Canva Sans"/>
              </a:rPr>
              <a:t>WebSockets: Real-time, but lacks built-in topic-based message management.</a:t>
            </a:r>
          </a:p>
          <a:p>
            <a:pPr algn="l">
              <a:lnSpc>
                <a:spcPts val="3082"/>
              </a:lnSpc>
              <a:spcBef>
                <a:spcPct val="0"/>
              </a:spcBef>
            </a:pPr>
          </a:p>
        </p:txBody>
      </p:sp>
      <p:sp>
        <p:nvSpPr>
          <p:cNvPr name="TextBox 10" id="10"/>
          <p:cNvSpPr txBox="true"/>
          <p:nvPr/>
        </p:nvSpPr>
        <p:spPr>
          <a:xfrm rot="0">
            <a:off x="17558507" y="9240260"/>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9659104" y="419669"/>
            <a:ext cx="7929005" cy="9422720"/>
            <a:chOff x="0" y="0"/>
            <a:chExt cx="2088298" cy="2481704"/>
          </a:xfrm>
        </p:grpSpPr>
        <p:sp>
          <p:nvSpPr>
            <p:cNvPr name="Freeform 4" id="4"/>
            <p:cNvSpPr/>
            <p:nvPr/>
          </p:nvSpPr>
          <p:spPr>
            <a:xfrm flipH="false" flipV="false" rot="0">
              <a:off x="0" y="0"/>
              <a:ext cx="2088298" cy="2481704"/>
            </a:xfrm>
            <a:custGeom>
              <a:avLst/>
              <a:gdLst/>
              <a:ahLst/>
              <a:cxnLst/>
              <a:rect r="r" b="b" t="t" l="l"/>
              <a:pathLst>
                <a:path h="2481704" w="2088298">
                  <a:moveTo>
                    <a:pt x="49797" y="0"/>
                  </a:moveTo>
                  <a:lnTo>
                    <a:pt x="2038501" y="0"/>
                  </a:lnTo>
                  <a:cubicBezTo>
                    <a:pt x="2051708" y="0"/>
                    <a:pt x="2064374" y="5246"/>
                    <a:pt x="2073712" y="14585"/>
                  </a:cubicBezTo>
                  <a:cubicBezTo>
                    <a:pt x="2083051" y="23924"/>
                    <a:pt x="2088298" y="36590"/>
                    <a:pt x="2088298" y="49797"/>
                  </a:cubicBezTo>
                  <a:lnTo>
                    <a:pt x="2088298" y="2431908"/>
                  </a:lnTo>
                  <a:cubicBezTo>
                    <a:pt x="2088298" y="2445114"/>
                    <a:pt x="2083051" y="2457780"/>
                    <a:pt x="2073712" y="2467119"/>
                  </a:cubicBezTo>
                  <a:cubicBezTo>
                    <a:pt x="2064374" y="2476458"/>
                    <a:pt x="2051708" y="2481704"/>
                    <a:pt x="2038501" y="2481704"/>
                  </a:cubicBezTo>
                  <a:lnTo>
                    <a:pt x="49797" y="2481704"/>
                  </a:lnTo>
                  <a:cubicBezTo>
                    <a:pt x="36590" y="2481704"/>
                    <a:pt x="23924" y="2476458"/>
                    <a:pt x="14585" y="2467119"/>
                  </a:cubicBezTo>
                  <a:cubicBezTo>
                    <a:pt x="5246" y="2457780"/>
                    <a:pt x="0" y="2445114"/>
                    <a:pt x="0" y="2431908"/>
                  </a:cubicBezTo>
                  <a:lnTo>
                    <a:pt x="0" y="49797"/>
                  </a:lnTo>
                  <a:cubicBezTo>
                    <a:pt x="0" y="36590"/>
                    <a:pt x="5246" y="23924"/>
                    <a:pt x="14585" y="14585"/>
                  </a:cubicBezTo>
                  <a:cubicBezTo>
                    <a:pt x="23924" y="5246"/>
                    <a:pt x="36590" y="0"/>
                    <a:pt x="49797" y="0"/>
                  </a:cubicBezTo>
                  <a:close/>
                </a:path>
              </a:pathLst>
            </a:custGeom>
            <a:solidFill>
              <a:srgbClr val="004AAD"/>
            </a:solidFill>
          </p:spPr>
        </p:sp>
        <p:sp>
          <p:nvSpPr>
            <p:cNvPr name="TextBox 5" id="5"/>
            <p:cNvSpPr txBox="true"/>
            <p:nvPr/>
          </p:nvSpPr>
          <p:spPr>
            <a:xfrm>
              <a:off x="0" y="-47625"/>
              <a:ext cx="2088298" cy="252932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125366" y="132369"/>
            <a:ext cx="5805222"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METHODOLOGY</a:t>
            </a:r>
          </a:p>
        </p:txBody>
      </p:sp>
      <p:grpSp>
        <p:nvGrpSpPr>
          <p:cNvPr name="Group 7" id="7"/>
          <p:cNvGrpSpPr/>
          <p:nvPr/>
        </p:nvGrpSpPr>
        <p:grpSpPr>
          <a:xfrm rot="0">
            <a:off x="1028700" y="1423053"/>
            <a:ext cx="967217" cy="96721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1443616"/>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1</a:t>
            </a:r>
          </a:p>
        </p:txBody>
      </p:sp>
      <p:grpSp>
        <p:nvGrpSpPr>
          <p:cNvPr name="Group 11" id="11"/>
          <p:cNvGrpSpPr/>
          <p:nvPr/>
        </p:nvGrpSpPr>
        <p:grpSpPr>
          <a:xfrm rot="0">
            <a:off x="1009563" y="2820828"/>
            <a:ext cx="1056809" cy="105680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95892" y="4506287"/>
            <a:ext cx="1070480" cy="107048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09563" y="2921158"/>
            <a:ext cx="1018535" cy="830842"/>
          </a:xfrm>
          <a:prstGeom prst="rect">
            <a:avLst/>
          </a:prstGeom>
        </p:spPr>
        <p:txBody>
          <a:bodyPr anchor="t" rtlCol="false" tIns="0" lIns="0" bIns="0" rIns="0">
            <a:spAutoFit/>
          </a:bodyPr>
          <a:lstStyle/>
          <a:p>
            <a:pPr algn="ctr">
              <a:lnSpc>
                <a:spcPts val="6838"/>
              </a:lnSpc>
            </a:pPr>
            <a:r>
              <a:rPr lang="en-US" b="true" sz="4884">
                <a:solidFill>
                  <a:srgbClr val="000000"/>
                </a:solidFill>
                <a:latin typeface="League Spartan"/>
                <a:ea typeface="League Spartan"/>
                <a:cs typeface="League Spartan"/>
                <a:sym typeface="League Spartan"/>
              </a:rPr>
              <a:t>2</a:t>
            </a:r>
          </a:p>
        </p:txBody>
      </p:sp>
      <p:sp>
        <p:nvSpPr>
          <p:cNvPr name="TextBox 18" id="18"/>
          <p:cNvSpPr txBox="true"/>
          <p:nvPr/>
        </p:nvSpPr>
        <p:spPr>
          <a:xfrm rot="0">
            <a:off x="977383" y="4603516"/>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3</a:t>
            </a:r>
          </a:p>
        </p:txBody>
      </p:sp>
      <p:sp>
        <p:nvSpPr>
          <p:cNvPr name="TextBox 19" id="19"/>
          <p:cNvSpPr txBox="true"/>
          <p:nvPr/>
        </p:nvSpPr>
        <p:spPr>
          <a:xfrm rot="0">
            <a:off x="2605008" y="1653931"/>
            <a:ext cx="5241628" cy="448311"/>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Canva Sans"/>
                <a:ea typeface="Canva Sans"/>
                <a:cs typeface="Canva Sans"/>
                <a:sym typeface="Canva Sans"/>
              </a:rPr>
              <a:t>Netw</a:t>
            </a:r>
            <a:r>
              <a:rPr lang="en-US" sz="2599">
                <a:solidFill>
                  <a:srgbClr val="000000"/>
                </a:solidFill>
                <a:latin typeface="Canva Sans"/>
                <a:ea typeface="Canva Sans"/>
                <a:cs typeface="Canva Sans"/>
                <a:sym typeface="Canva Sans"/>
              </a:rPr>
              <a:t>ork Interfaces and IPs in VM</a:t>
            </a:r>
          </a:p>
        </p:txBody>
      </p:sp>
      <p:sp>
        <p:nvSpPr>
          <p:cNvPr name="TextBox 20" id="20"/>
          <p:cNvSpPr txBox="true"/>
          <p:nvPr/>
        </p:nvSpPr>
        <p:spPr>
          <a:xfrm rot="0">
            <a:off x="2471720" y="3131473"/>
            <a:ext cx="6649542" cy="448311"/>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Canva Sans"/>
                <a:ea typeface="Canva Sans"/>
                <a:cs typeface="Canva Sans"/>
                <a:sym typeface="Canva Sans"/>
              </a:rPr>
              <a:t> Network Setup Script ( setup_network.sh)</a:t>
            </a:r>
          </a:p>
        </p:txBody>
      </p:sp>
      <p:sp>
        <p:nvSpPr>
          <p:cNvPr name="TextBox 21" id="21"/>
          <p:cNvSpPr txBox="true"/>
          <p:nvPr/>
        </p:nvSpPr>
        <p:spPr>
          <a:xfrm rot="0">
            <a:off x="1755761" y="4489973"/>
            <a:ext cx="7511973" cy="905511"/>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Canva Sans"/>
                <a:ea typeface="Canva Sans"/>
                <a:cs typeface="Canva Sans"/>
                <a:sym typeface="Canva Sans"/>
              </a:rPr>
              <a:t>Network Simulation using Mininet (</a:t>
            </a:r>
            <a:r>
              <a:rPr lang="en-US" sz="2599">
                <a:solidFill>
                  <a:srgbClr val="000000"/>
                </a:solidFill>
                <a:latin typeface="Canva Sans"/>
                <a:ea typeface="Canva Sans"/>
                <a:cs typeface="Canva Sans"/>
                <a:sym typeface="Canva Sans"/>
              </a:rPr>
              <a:t>launch_all_sensors.py)</a:t>
            </a:r>
          </a:p>
        </p:txBody>
      </p:sp>
      <p:sp>
        <p:nvSpPr>
          <p:cNvPr name="TextBox 22" id="22"/>
          <p:cNvSpPr txBox="true"/>
          <p:nvPr/>
        </p:nvSpPr>
        <p:spPr>
          <a:xfrm rot="0">
            <a:off x="2605008" y="6380107"/>
            <a:ext cx="5813480" cy="1362711"/>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Canva Sans"/>
                <a:ea typeface="Canva Sans"/>
                <a:cs typeface="Canva Sans"/>
                <a:sym typeface="Canva Sans"/>
              </a:rPr>
              <a:t>Sensor Data Simulation (</a:t>
            </a:r>
            <a:r>
              <a:rPr lang="en-US" sz="2599">
                <a:solidFill>
                  <a:srgbClr val="000000"/>
                </a:solidFill>
                <a:latin typeface="Canva Sans"/>
                <a:ea typeface="Canva Sans"/>
                <a:cs typeface="Canva Sans"/>
                <a:sym typeface="Canva Sans"/>
              </a:rPr>
              <a:t>sensors/sensor_simulator_multiroom.py) and MQTT Communication</a:t>
            </a:r>
          </a:p>
        </p:txBody>
      </p:sp>
      <p:sp>
        <p:nvSpPr>
          <p:cNvPr name="TextBox 23" id="23"/>
          <p:cNvSpPr txBox="true"/>
          <p:nvPr/>
        </p:nvSpPr>
        <p:spPr>
          <a:xfrm rot="0">
            <a:off x="2767047" y="8228275"/>
            <a:ext cx="6294884" cy="1819911"/>
          </a:xfrm>
          <a:prstGeom prst="rect">
            <a:avLst/>
          </a:prstGeom>
        </p:spPr>
        <p:txBody>
          <a:bodyPr anchor="t" rtlCol="false" tIns="0" lIns="0" bIns="0" rIns="0">
            <a:spAutoFit/>
          </a:bodyPr>
          <a:lstStyle/>
          <a:p>
            <a:pPr algn="ctr">
              <a:lnSpc>
                <a:spcPts val="3639"/>
              </a:lnSpc>
            </a:pPr>
            <a:r>
              <a:rPr lang="en-US" sz="2599">
                <a:solidFill>
                  <a:srgbClr val="000000"/>
                </a:solidFill>
                <a:latin typeface="Canva Sans"/>
                <a:ea typeface="Canva Sans"/>
                <a:cs typeface="Canva Sans"/>
                <a:sym typeface="Canva Sans"/>
              </a:rPr>
              <a:t>Data Collection (</a:t>
            </a:r>
            <a:r>
              <a:rPr lang="en-US" sz="2599">
                <a:solidFill>
                  <a:srgbClr val="000000"/>
                </a:solidFill>
                <a:latin typeface="Canva Sans"/>
                <a:ea typeface="Canva Sans"/>
                <a:cs typeface="Canva Sans"/>
                <a:sym typeface="Canva Sans"/>
              </a:rPr>
              <a:t>server/data_collector.py) </a:t>
            </a:r>
          </a:p>
          <a:p>
            <a:pPr algn="ctr">
              <a:lnSpc>
                <a:spcPts val="3639"/>
              </a:lnSpc>
            </a:pPr>
            <a:r>
              <a:rPr lang="en-US" sz="2599">
                <a:solidFill>
                  <a:srgbClr val="000000"/>
                </a:solidFill>
                <a:latin typeface="Canva Sans"/>
                <a:ea typeface="Canva Sans"/>
                <a:cs typeface="Canva Sans"/>
                <a:sym typeface="Canva Sans"/>
              </a:rPr>
              <a:t>and Storage in InfluxDB</a:t>
            </a:r>
          </a:p>
          <a:p>
            <a:pPr algn="ctr">
              <a:lnSpc>
                <a:spcPts val="3639"/>
              </a:lnSpc>
              <a:spcBef>
                <a:spcPct val="0"/>
              </a:spcBef>
            </a:pPr>
          </a:p>
        </p:txBody>
      </p:sp>
      <p:sp>
        <p:nvSpPr>
          <p:cNvPr name="TextBox 24" id="24"/>
          <p:cNvSpPr txBox="true"/>
          <p:nvPr/>
        </p:nvSpPr>
        <p:spPr>
          <a:xfrm rot="0">
            <a:off x="10267471" y="1384953"/>
            <a:ext cx="6294884" cy="1153795"/>
          </a:xfrm>
          <a:prstGeom prst="rect">
            <a:avLst/>
          </a:prstGeom>
        </p:spPr>
        <p:txBody>
          <a:bodyPr anchor="t" rtlCol="false" tIns="0" lIns="0" bIns="0" rIns="0">
            <a:spAutoFit/>
          </a:bodyPr>
          <a:lstStyle/>
          <a:p>
            <a:pPr algn="ctr">
              <a:lnSpc>
                <a:spcPts val="3079"/>
              </a:lnSpc>
            </a:pPr>
            <a:r>
              <a:rPr lang="en-US" sz="2199" b="true">
                <a:solidFill>
                  <a:srgbClr val="FFFFFF"/>
                </a:solidFill>
                <a:latin typeface="Canva Sans Bold"/>
                <a:ea typeface="Canva Sans Bold"/>
                <a:cs typeface="Canva Sans Bold"/>
                <a:sym typeface="Canva Sans Bold"/>
              </a:rPr>
              <a:t>Anomaly Detection (</a:t>
            </a:r>
            <a:r>
              <a:rPr lang="en-US" sz="2199">
                <a:solidFill>
                  <a:srgbClr val="FFFFFF"/>
                </a:solidFill>
                <a:latin typeface="Canva Sans"/>
                <a:ea typeface="Canva Sans"/>
                <a:cs typeface="Canva Sans"/>
                <a:sym typeface="Canva Sans"/>
              </a:rPr>
              <a:t>server/anomaly_detector.py</a:t>
            </a:r>
            <a:r>
              <a:rPr lang="en-US" sz="2199" b="true">
                <a:solidFill>
                  <a:srgbClr val="FFFFFF"/>
                </a:solidFill>
                <a:latin typeface="Canva Sans Bold"/>
                <a:ea typeface="Canva Sans Bold"/>
                <a:cs typeface="Canva Sans Bold"/>
                <a:sym typeface="Canva Sans Bold"/>
              </a:rPr>
              <a:t>)</a:t>
            </a:r>
          </a:p>
          <a:p>
            <a:pPr algn="ctr">
              <a:lnSpc>
                <a:spcPts val="3079"/>
              </a:lnSpc>
              <a:spcBef>
                <a:spcPct val="0"/>
              </a:spcBef>
            </a:pPr>
          </a:p>
        </p:txBody>
      </p:sp>
      <p:sp>
        <p:nvSpPr>
          <p:cNvPr name="TextBox 25" id="25"/>
          <p:cNvSpPr txBox="true"/>
          <p:nvPr/>
        </p:nvSpPr>
        <p:spPr>
          <a:xfrm rot="0">
            <a:off x="10548533" y="3511605"/>
            <a:ext cx="6294884" cy="37274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Canva Sans"/>
                <a:ea typeface="Canva Sans"/>
                <a:cs typeface="Canva Sans"/>
                <a:sym typeface="Canva Sans"/>
              </a:rPr>
              <a:t>Vis</a:t>
            </a:r>
            <a:r>
              <a:rPr lang="en-US" sz="2199">
                <a:solidFill>
                  <a:srgbClr val="FFFFFF"/>
                </a:solidFill>
                <a:latin typeface="Canva Sans"/>
                <a:ea typeface="Canva Sans"/>
                <a:cs typeface="Canva Sans"/>
                <a:sym typeface="Canva Sans"/>
              </a:rPr>
              <a:t>ualization with Grafana Dashboard</a:t>
            </a:r>
          </a:p>
        </p:txBody>
      </p:sp>
      <p:grpSp>
        <p:nvGrpSpPr>
          <p:cNvPr name="Group 26" id="26"/>
          <p:cNvGrpSpPr/>
          <p:nvPr/>
        </p:nvGrpSpPr>
        <p:grpSpPr>
          <a:xfrm rot="0">
            <a:off x="9121262" y="1307240"/>
            <a:ext cx="967217" cy="96721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9144000" y="3188623"/>
            <a:ext cx="944479" cy="967217"/>
            <a:chOff x="0" y="0"/>
            <a:chExt cx="793692" cy="812800"/>
          </a:xfrm>
        </p:grpSpPr>
        <p:sp>
          <p:nvSpPr>
            <p:cNvPr name="Freeform 30" id="30"/>
            <p:cNvSpPr/>
            <p:nvPr/>
          </p:nvSpPr>
          <p:spPr>
            <a:xfrm flipH="false" flipV="false" rot="0">
              <a:off x="0" y="0"/>
              <a:ext cx="793692" cy="812800"/>
            </a:xfrm>
            <a:custGeom>
              <a:avLst/>
              <a:gdLst/>
              <a:ahLst/>
              <a:cxnLst/>
              <a:rect r="r" b="b" t="t" l="l"/>
              <a:pathLst>
                <a:path h="812800" w="793692">
                  <a:moveTo>
                    <a:pt x="396846" y="0"/>
                  </a:moveTo>
                  <a:cubicBezTo>
                    <a:pt x="177674" y="0"/>
                    <a:pt x="0" y="181951"/>
                    <a:pt x="0" y="406400"/>
                  </a:cubicBezTo>
                  <a:cubicBezTo>
                    <a:pt x="0" y="630849"/>
                    <a:pt x="177674" y="812800"/>
                    <a:pt x="396846" y="812800"/>
                  </a:cubicBezTo>
                  <a:cubicBezTo>
                    <a:pt x="616018" y="812800"/>
                    <a:pt x="793692" y="630849"/>
                    <a:pt x="793692" y="406400"/>
                  </a:cubicBezTo>
                  <a:cubicBezTo>
                    <a:pt x="793692" y="181951"/>
                    <a:pt x="616018" y="0"/>
                    <a:pt x="396846" y="0"/>
                  </a:cubicBezTo>
                  <a:close/>
                </a:path>
              </a:pathLst>
            </a:custGeom>
            <a:solidFill>
              <a:srgbClr val="E5E5E5"/>
            </a:solidFill>
          </p:spPr>
        </p:sp>
        <p:sp>
          <p:nvSpPr>
            <p:cNvPr name="TextBox 31" id="31"/>
            <p:cNvSpPr txBox="true"/>
            <p:nvPr/>
          </p:nvSpPr>
          <p:spPr>
            <a:xfrm>
              <a:off x="74409" y="28575"/>
              <a:ext cx="644875" cy="708025"/>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9061931" y="5041526"/>
            <a:ext cx="967217" cy="96721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4" id="3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0">
            <a:off x="9095603" y="7203254"/>
            <a:ext cx="967217" cy="967217"/>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7" id="3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9069945" y="1443616"/>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6</a:t>
            </a:r>
          </a:p>
        </p:txBody>
      </p:sp>
      <p:sp>
        <p:nvSpPr>
          <p:cNvPr name="TextBox 39" id="39"/>
          <p:cNvSpPr txBox="true"/>
          <p:nvPr/>
        </p:nvSpPr>
        <p:spPr>
          <a:xfrm rot="0">
            <a:off x="9121262" y="3253982"/>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7</a:t>
            </a:r>
          </a:p>
        </p:txBody>
      </p:sp>
      <p:grpSp>
        <p:nvGrpSpPr>
          <p:cNvPr name="Group 40" id="40"/>
          <p:cNvGrpSpPr/>
          <p:nvPr/>
        </p:nvGrpSpPr>
        <p:grpSpPr>
          <a:xfrm rot="0">
            <a:off x="983590" y="6351849"/>
            <a:ext cx="1070480" cy="1070480"/>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42" id="4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1021865" y="6468050"/>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4</a:t>
            </a:r>
          </a:p>
        </p:txBody>
      </p:sp>
      <p:sp>
        <p:nvSpPr>
          <p:cNvPr name="TextBox 44" id="44"/>
          <p:cNvSpPr txBox="true"/>
          <p:nvPr/>
        </p:nvSpPr>
        <p:spPr>
          <a:xfrm rot="0">
            <a:off x="9010614" y="5113720"/>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8</a:t>
            </a:r>
          </a:p>
        </p:txBody>
      </p:sp>
      <p:sp>
        <p:nvSpPr>
          <p:cNvPr name="TextBox 45" id="45"/>
          <p:cNvSpPr txBox="true"/>
          <p:nvPr/>
        </p:nvSpPr>
        <p:spPr>
          <a:xfrm rot="0">
            <a:off x="10829595" y="5245473"/>
            <a:ext cx="5257106" cy="76327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Canva Sans"/>
                <a:ea typeface="Canva Sans"/>
                <a:cs typeface="Canva Sans"/>
                <a:sym typeface="Canva Sans"/>
              </a:rPr>
              <a:t> REST API</a:t>
            </a:r>
            <a:r>
              <a:rPr lang="en-US" sz="2199">
                <a:solidFill>
                  <a:srgbClr val="FFFFFF"/>
                </a:solidFill>
                <a:latin typeface="Canva Sans"/>
                <a:ea typeface="Canva Sans"/>
                <a:cs typeface="Canva Sans"/>
                <a:sym typeface="Canva Sans"/>
              </a:rPr>
              <a:t> Backend (web_dashboard.py)</a:t>
            </a:r>
          </a:p>
          <a:p>
            <a:pPr algn="ctr">
              <a:lnSpc>
                <a:spcPts val="3079"/>
              </a:lnSpc>
              <a:spcBef>
                <a:spcPct val="0"/>
              </a:spcBef>
            </a:pPr>
          </a:p>
        </p:txBody>
      </p:sp>
      <p:grpSp>
        <p:nvGrpSpPr>
          <p:cNvPr name="Group 46" id="46"/>
          <p:cNvGrpSpPr/>
          <p:nvPr/>
        </p:nvGrpSpPr>
        <p:grpSpPr>
          <a:xfrm rot="0">
            <a:off x="1125366" y="8251004"/>
            <a:ext cx="957060" cy="897517"/>
            <a:chOff x="0" y="0"/>
            <a:chExt cx="812800" cy="762232"/>
          </a:xfrm>
        </p:grpSpPr>
        <p:sp>
          <p:nvSpPr>
            <p:cNvPr name="Freeform 47" id="47"/>
            <p:cNvSpPr/>
            <p:nvPr/>
          </p:nvSpPr>
          <p:spPr>
            <a:xfrm flipH="false" flipV="false" rot="0">
              <a:off x="0" y="0"/>
              <a:ext cx="812800" cy="762232"/>
            </a:xfrm>
            <a:custGeom>
              <a:avLst/>
              <a:gdLst/>
              <a:ahLst/>
              <a:cxnLst/>
              <a:rect r="r" b="b" t="t" l="l"/>
              <a:pathLst>
                <a:path h="762232" w="812800">
                  <a:moveTo>
                    <a:pt x="406400" y="0"/>
                  </a:moveTo>
                  <a:cubicBezTo>
                    <a:pt x="181951" y="0"/>
                    <a:pt x="0" y="170631"/>
                    <a:pt x="0" y="381116"/>
                  </a:cubicBezTo>
                  <a:cubicBezTo>
                    <a:pt x="0" y="591600"/>
                    <a:pt x="181951" y="762232"/>
                    <a:pt x="406400" y="762232"/>
                  </a:cubicBezTo>
                  <a:cubicBezTo>
                    <a:pt x="630849" y="762232"/>
                    <a:pt x="812800" y="591600"/>
                    <a:pt x="812800" y="381116"/>
                  </a:cubicBezTo>
                  <a:cubicBezTo>
                    <a:pt x="812800" y="170631"/>
                    <a:pt x="630849" y="0"/>
                    <a:pt x="406400" y="0"/>
                  </a:cubicBezTo>
                  <a:close/>
                </a:path>
              </a:pathLst>
            </a:custGeom>
            <a:solidFill>
              <a:srgbClr val="E5E5E5"/>
            </a:solidFill>
          </p:spPr>
        </p:sp>
        <p:sp>
          <p:nvSpPr>
            <p:cNvPr name="TextBox 48" id="48"/>
            <p:cNvSpPr txBox="true"/>
            <p:nvPr/>
          </p:nvSpPr>
          <p:spPr>
            <a:xfrm>
              <a:off x="76200" y="23834"/>
              <a:ext cx="660400" cy="666938"/>
            </a:xfrm>
            <a:prstGeom prst="rect">
              <a:avLst/>
            </a:prstGeom>
          </p:spPr>
          <p:txBody>
            <a:bodyPr anchor="ctr" rtlCol="false" tIns="50800" lIns="50800" bIns="50800" rIns="50800"/>
            <a:lstStyle/>
            <a:p>
              <a:pPr algn="ctr">
                <a:lnSpc>
                  <a:spcPts val="2659"/>
                </a:lnSpc>
              </a:pPr>
            </a:p>
          </p:txBody>
        </p:sp>
      </p:grpSp>
      <p:sp>
        <p:nvSpPr>
          <p:cNvPr name="TextBox 49" id="49"/>
          <p:cNvSpPr txBox="true"/>
          <p:nvPr/>
        </p:nvSpPr>
        <p:spPr>
          <a:xfrm rot="0">
            <a:off x="1125366" y="8317679"/>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5</a:t>
            </a:r>
          </a:p>
        </p:txBody>
      </p:sp>
      <p:sp>
        <p:nvSpPr>
          <p:cNvPr name="TextBox 50" id="50"/>
          <p:cNvSpPr txBox="true"/>
          <p:nvPr/>
        </p:nvSpPr>
        <p:spPr>
          <a:xfrm rot="0">
            <a:off x="10829595" y="7384229"/>
            <a:ext cx="5732761" cy="37274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Canva Sans"/>
                <a:ea typeface="Canva Sans"/>
                <a:cs typeface="Canva Sans"/>
                <a:sym typeface="Canva Sans"/>
              </a:rPr>
              <a:t>Cust</a:t>
            </a:r>
            <a:r>
              <a:rPr lang="en-US" sz="2199">
                <a:solidFill>
                  <a:srgbClr val="FFFFFF"/>
                </a:solidFill>
                <a:latin typeface="Canva Sans"/>
                <a:ea typeface="Canva Sans"/>
                <a:cs typeface="Canva Sans"/>
                <a:sym typeface="Canva Sans"/>
              </a:rPr>
              <a:t>om Web Dashboard Frontend (app.py)</a:t>
            </a:r>
          </a:p>
        </p:txBody>
      </p:sp>
      <p:sp>
        <p:nvSpPr>
          <p:cNvPr name="TextBox 51" id="51"/>
          <p:cNvSpPr txBox="true"/>
          <p:nvPr/>
        </p:nvSpPr>
        <p:spPr>
          <a:xfrm rot="0">
            <a:off x="9069945" y="7223817"/>
            <a:ext cx="1018535" cy="830842"/>
          </a:xfrm>
          <a:prstGeom prst="rect">
            <a:avLst/>
          </a:prstGeom>
        </p:spPr>
        <p:txBody>
          <a:bodyPr anchor="t" rtlCol="false" tIns="0" lIns="0" bIns="0" rIns="0">
            <a:spAutoFit/>
          </a:bodyPr>
          <a:lstStyle/>
          <a:p>
            <a:pPr algn="ctr">
              <a:lnSpc>
                <a:spcPts val="6838"/>
              </a:lnSpc>
            </a:pPr>
            <a:r>
              <a:rPr lang="en-US" sz="4884">
                <a:solidFill>
                  <a:srgbClr val="000000"/>
                </a:solidFill>
                <a:latin typeface="League Spartan"/>
                <a:ea typeface="League Spartan"/>
                <a:cs typeface="League Spartan"/>
                <a:sym typeface="League Spartan"/>
              </a:rPr>
              <a:t>9</a:t>
            </a:r>
          </a:p>
        </p:txBody>
      </p:sp>
      <p:sp>
        <p:nvSpPr>
          <p:cNvPr name="TextBox 52" id="52"/>
          <p:cNvSpPr txBox="true"/>
          <p:nvPr/>
        </p:nvSpPr>
        <p:spPr>
          <a:xfrm rot="0">
            <a:off x="17807315" y="9581404"/>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0026650"/>
            <a:ext cx="18288000" cy="1227942"/>
            <a:chOff x="0" y="0"/>
            <a:chExt cx="4816593" cy="323409"/>
          </a:xfrm>
        </p:grpSpPr>
        <p:sp>
          <p:nvSpPr>
            <p:cNvPr name="Freeform 4" id="4"/>
            <p:cNvSpPr/>
            <p:nvPr/>
          </p:nvSpPr>
          <p:spPr>
            <a:xfrm flipH="false" flipV="false" rot="0">
              <a:off x="0" y="0"/>
              <a:ext cx="4816592" cy="323409"/>
            </a:xfrm>
            <a:custGeom>
              <a:avLst/>
              <a:gdLst/>
              <a:ahLst/>
              <a:cxnLst/>
              <a:rect r="r" b="b" t="t" l="l"/>
              <a:pathLst>
                <a:path h="323409" w="4816592">
                  <a:moveTo>
                    <a:pt x="0" y="0"/>
                  </a:moveTo>
                  <a:lnTo>
                    <a:pt x="4816592" y="0"/>
                  </a:lnTo>
                  <a:lnTo>
                    <a:pt x="4816592" y="323409"/>
                  </a:lnTo>
                  <a:lnTo>
                    <a:pt x="0" y="323409"/>
                  </a:lnTo>
                  <a:close/>
                </a:path>
              </a:pathLst>
            </a:custGeom>
            <a:solidFill>
              <a:srgbClr val="004AAD"/>
            </a:solidFill>
          </p:spPr>
        </p:sp>
        <p:sp>
          <p:nvSpPr>
            <p:cNvPr name="TextBox 5" id="5"/>
            <p:cNvSpPr txBox="true"/>
            <p:nvPr/>
          </p:nvSpPr>
          <p:spPr>
            <a:xfrm>
              <a:off x="0" y="-47625"/>
              <a:ext cx="4816593" cy="37103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20598" y="693233"/>
            <a:ext cx="670934" cy="67093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311773" y="763531"/>
            <a:ext cx="488584" cy="582613"/>
          </a:xfrm>
          <a:prstGeom prst="rect">
            <a:avLst/>
          </a:prstGeom>
        </p:spPr>
        <p:txBody>
          <a:bodyPr anchor="t" rtlCol="false" tIns="0" lIns="0" bIns="0" rIns="0">
            <a:spAutoFit/>
          </a:bodyPr>
          <a:lstStyle/>
          <a:p>
            <a:pPr algn="ctr">
              <a:lnSpc>
                <a:spcPts val="4796"/>
              </a:lnSpc>
            </a:pPr>
            <a:r>
              <a:rPr lang="en-US" sz="3425">
                <a:solidFill>
                  <a:srgbClr val="000000"/>
                </a:solidFill>
                <a:latin typeface="League Spartan"/>
                <a:ea typeface="League Spartan"/>
                <a:cs typeface="League Spartan"/>
                <a:sym typeface="League Spartan"/>
              </a:rPr>
              <a:t>2</a:t>
            </a:r>
          </a:p>
        </p:txBody>
      </p:sp>
      <p:sp>
        <p:nvSpPr>
          <p:cNvPr name="TextBox 10" id="10"/>
          <p:cNvSpPr txBox="true"/>
          <p:nvPr/>
        </p:nvSpPr>
        <p:spPr>
          <a:xfrm rot="0">
            <a:off x="2179998" y="869605"/>
            <a:ext cx="6964002" cy="33299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Canva Sans Bold"/>
                <a:ea typeface="Canva Sans Bold"/>
                <a:cs typeface="Canva Sans Bold"/>
                <a:sym typeface="Canva Sans Bold"/>
              </a:rPr>
              <a:t>Network Setup Script ( setup_network.sh):</a:t>
            </a:r>
          </a:p>
          <a:p>
            <a:pPr algn="l" marL="518160" indent="-259080" lvl="1">
              <a:lnSpc>
                <a:spcPts val="3359"/>
              </a:lnSpc>
              <a:spcBef>
                <a:spcPct val="0"/>
              </a:spcBef>
              <a:buFont typeface="Arial"/>
              <a:buChar char="•"/>
            </a:pPr>
            <a:r>
              <a:rPr lang="en-US" sz="2400">
                <a:solidFill>
                  <a:srgbClr val="000000"/>
                </a:solidFill>
                <a:latin typeface="Canva Sans"/>
                <a:ea typeface="Canva Sans"/>
                <a:cs typeface="Canva Sans"/>
                <a:sym typeface="Canva Sans"/>
              </a:rPr>
              <a:t>We configure IP forwarding and NAT using a Bash script to enable Mininet hosts (in the 10.0.0.0/8 network) to access external networks.</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 This setup routes traffic through the host machine’s IP, enabling full internet connectivity for simulated nodes.</a:t>
            </a:r>
          </a:p>
        </p:txBody>
      </p:sp>
      <p:grpSp>
        <p:nvGrpSpPr>
          <p:cNvPr name="Group 11" id="11"/>
          <p:cNvGrpSpPr/>
          <p:nvPr/>
        </p:nvGrpSpPr>
        <p:grpSpPr>
          <a:xfrm rot="0">
            <a:off x="9626822" y="693233"/>
            <a:ext cx="670934" cy="67093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689907" y="763531"/>
            <a:ext cx="488584" cy="582613"/>
          </a:xfrm>
          <a:prstGeom prst="rect">
            <a:avLst/>
          </a:prstGeom>
        </p:spPr>
        <p:txBody>
          <a:bodyPr anchor="t" rtlCol="false" tIns="0" lIns="0" bIns="0" rIns="0">
            <a:spAutoFit/>
          </a:bodyPr>
          <a:lstStyle/>
          <a:p>
            <a:pPr algn="ctr">
              <a:lnSpc>
                <a:spcPts val="4796"/>
              </a:lnSpc>
            </a:pPr>
            <a:r>
              <a:rPr lang="en-US" sz="3425">
                <a:solidFill>
                  <a:srgbClr val="000000"/>
                </a:solidFill>
                <a:latin typeface="League Spartan"/>
                <a:ea typeface="League Spartan"/>
                <a:cs typeface="League Spartan"/>
                <a:sym typeface="League Spartan"/>
              </a:rPr>
              <a:t>3</a:t>
            </a:r>
          </a:p>
        </p:txBody>
      </p:sp>
      <p:sp>
        <p:nvSpPr>
          <p:cNvPr name="TextBox 15" id="15"/>
          <p:cNvSpPr txBox="true"/>
          <p:nvPr/>
        </p:nvSpPr>
        <p:spPr>
          <a:xfrm rot="0">
            <a:off x="10640553" y="869605"/>
            <a:ext cx="6618747" cy="3749040"/>
          </a:xfrm>
          <a:prstGeom prst="rect">
            <a:avLst/>
          </a:prstGeom>
        </p:spPr>
        <p:txBody>
          <a:bodyPr anchor="t" rtlCol="false" tIns="0" lIns="0" bIns="0" rIns="0">
            <a:spAutoFit/>
          </a:bodyPr>
          <a:lstStyle/>
          <a:p>
            <a:pPr algn="l">
              <a:lnSpc>
                <a:spcPts val="3359"/>
              </a:lnSpc>
            </a:pPr>
            <a:r>
              <a:rPr lang="en-US" sz="2400" b="true">
                <a:solidFill>
                  <a:srgbClr val="000000"/>
                </a:solidFill>
                <a:latin typeface="Canva Sans Bold"/>
                <a:ea typeface="Canva Sans Bold"/>
                <a:cs typeface="Canva Sans Bold"/>
                <a:sym typeface="Canva Sans Bold"/>
              </a:rPr>
              <a:t>Network Simulation using Mininet (launch_all_sensors.py):</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S</a:t>
            </a:r>
            <a:r>
              <a:rPr lang="en-US" sz="2400">
                <a:solidFill>
                  <a:srgbClr val="000000"/>
                </a:solidFill>
                <a:latin typeface="Canva Sans"/>
                <a:ea typeface="Canva Sans"/>
                <a:cs typeface="Canva Sans"/>
                <a:sym typeface="Canva Sans"/>
              </a:rPr>
              <a:t>ets up a virtual network with 1 switch (s1) and 100 hosts (h1–h100), e</a:t>
            </a:r>
            <a:r>
              <a:rPr lang="en-US" sz="2400">
                <a:solidFill>
                  <a:srgbClr val="000000"/>
                </a:solidFill>
                <a:latin typeface="Canva Sans"/>
                <a:ea typeface="Canva Sans"/>
                <a:cs typeface="Canva Sans"/>
                <a:sym typeface="Canva Sans"/>
              </a:rPr>
              <a:t>ach host representing a unique room and IoT sensor.</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Eac</a:t>
            </a:r>
            <a:r>
              <a:rPr lang="en-US" sz="2400">
                <a:solidFill>
                  <a:srgbClr val="000000"/>
                </a:solidFill>
                <a:latin typeface="Canva Sans"/>
                <a:ea typeface="Canva Sans"/>
                <a:cs typeface="Canva Sans"/>
                <a:sym typeface="Canva Sans"/>
              </a:rPr>
              <a:t>h host runs a sensor script that sends real-time environmental data to the MQTT Broker (10.0.0.254:1883).</a:t>
            </a:r>
          </a:p>
        </p:txBody>
      </p:sp>
      <p:sp>
        <p:nvSpPr>
          <p:cNvPr name="TextBox 16" id="16"/>
          <p:cNvSpPr txBox="true"/>
          <p:nvPr/>
        </p:nvSpPr>
        <p:spPr>
          <a:xfrm rot="0">
            <a:off x="2179998" y="5007695"/>
            <a:ext cx="7298285" cy="4587240"/>
          </a:xfrm>
          <a:prstGeom prst="rect">
            <a:avLst/>
          </a:prstGeom>
        </p:spPr>
        <p:txBody>
          <a:bodyPr anchor="t" rtlCol="false" tIns="0" lIns="0" bIns="0" rIns="0">
            <a:spAutoFit/>
          </a:bodyPr>
          <a:lstStyle/>
          <a:p>
            <a:pPr algn="l">
              <a:lnSpc>
                <a:spcPts val="3359"/>
              </a:lnSpc>
            </a:pPr>
            <a:r>
              <a:rPr lang="en-US" sz="2400" b="true">
                <a:solidFill>
                  <a:srgbClr val="000000"/>
                </a:solidFill>
                <a:latin typeface="Canva Sans Bold"/>
                <a:ea typeface="Canva Sans Bold"/>
                <a:cs typeface="Canva Sans Bold"/>
                <a:sym typeface="Canva Sans Bold"/>
              </a:rPr>
              <a:t>Sensor Data Simulation (sensors/sensor_simulator_multiroom.py) and MQTT Communication:</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Each Mininet host simulates temperature, humidity, light, and CO₂ readings every 5 seconds with realistic randomness.</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Publishes values via plain MQTT (no auth/TLS) to Mosquitto broker at 10.0.0.254:1883.</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Data sent to topic: sensors/&lt;metric&gt;/&lt;room&gt;/&lt;sensor_id&gt; using paho-mqtt library.</a:t>
            </a:r>
          </a:p>
        </p:txBody>
      </p:sp>
      <p:grpSp>
        <p:nvGrpSpPr>
          <p:cNvPr name="Group 17" id="17"/>
          <p:cNvGrpSpPr/>
          <p:nvPr/>
        </p:nvGrpSpPr>
        <p:grpSpPr>
          <a:xfrm rot="0">
            <a:off x="1259357" y="5045795"/>
            <a:ext cx="670934" cy="711347"/>
            <a:chOff x="0" y="0"/>
            <a:chExt cx="812800" cy="861758"/>
          </a:xfrm>
        </p:grpSpPr>
        <p:sp>
          <p:nvSpPr>
            <p:cNvPr name="Freeform 18" id="18"/>
            <p:cNvSpPr/>
            <p:nvPr/>
          </p:nvSpPr>
          <p:spPr>
            <a:xfrm flipH="false" flipV="false" rot="0">
              <a:off x="0" y="0"/>
              <a:ext cx="812800" cy="861758"/>
            </a:xfrm>
            <a:custGeom>
              <a:avLst/>
              <a:gdLst/>
              <a:ahLst/>
              <a:cxnLst/>
              <a:rect r="r" b="b" t="t" l="l"/>
              <a:pathLst>
                <a:path h="861758" w="812800">
                  <a:moveTo>
                    <a:pt x="406400" y="0"/>
                  </a:moveTo>
                  <a:cubicBezTo>
                    <a:pt x="181951" y="0"/>
                    <a:pt x="0" y="192911"/>
                    <a:pt x="0" y="430879"/>
                  </a:cubicBezTo>
                  <a:cubicBezTo>
                    <a:pt x="0" y="668847"/>
                    <a:pt x="181951" y="861758"/>
                    <a:pt x="406400" y="861758"/>
                  </a:cubicBezTo>
                  <a:cubicBezTo>
                    <a:pt x="630849" y="861758"/>
                    <a:pt x="812800" y="668847"/>
                    <a:pt x="812800" y="430879"/>
                  </a:cubicBezTo>
                  <a:cubicBezTo>
                    <a:pt x="812800" y="192911"/>
                    <a:pt x="630849" y="0"/>
                    <a:pt x="406400" y="0"/>
                  </a:cubicBezTo>
                  <a:close/>
                </a:path>
              </a:pathLst>
            </a:custGeom>
            <a:solidFill>
              <a:srgbClr val="E5E5E5"/>
            </a:solidFill>
          </p:spPr>
        </p:sp>
        <p:sp>
          <p:nvSpPr>
            <p:cNvPr name="TextBox 19" id="19"/>
            <p:cNvSpPr txBox="true"/>
            <p:nvPr/>
          </p:nvSpPr>
          <p:spPr>
            <a:xfrm>
              <a:off x="76200" y="33165"/>
              <a:ext cx="660400" cy="747804"/>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311773" y="5174530"/>
            <a:ext cx="488584" cy="582613"/>
          </a:xfrm>
          <a:prstGeom prst="rect">
            <a:avLst/>
          </a:prstGeom>
        </p:spPr>
        <p:txBody>
          <a:bodyPr anchor="t" rtlCol="false" tIns="0" lIns="0" bIns="0" rIns="0">
            <a:spAutoFit/>
          </a:bodyPr>
          <a:lstStyle/>
          <a:p>
            <a:pPr algn="ctr">
              <a:lnSpc>
                <a:spcPts val="4796"/>
              </a:lnSpc>
            </a:pPr>
            <a:r>
              <a:rPr lang="en-US" sz="3425">
                <a:solidFill>
                  <a:srgbClr val="000000"/>
                </a:solidFill>
                <a:latin typeface="League Spartan"/>
                <a:ea typeface="League Spartan"/>
                <a:cs typeface="League Spartan"/>
                <a:sym typeface="League Spartan"/>
              </a:rPr>
              <a:t>4</a:t>
            </a:r>
          </a:p>
        </p:txBody>
      </p:sp>
      <p:grpSp>
        <p:nvGrpSpPr>
          <p:cNvPr name="Group 21" id="21"/>
          <p:cNvGrpSpPr/>
          <p:nvPr/>
        </p:nvGrpSpPr>
        <p:grpSpPr>
          <a:xfrm rot="0">
            <a:off x="9626822" y="5045795"/>
            <a:ext cx="670934" cy="67093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717997" y="5076825"/>
            <a:ext cx="488584" cy="582613"/>
          </a:xfrm>
          <a:prstGeom prst="rect">
            <a:avLst/>
          </a:prstGeom>
        </p:spPr>
        <p:txBody>
          <a:bodyPr anchor="t" rtlCol="false" tIns="0" lIns="0" bIns="0" rIns="0">
            <a:spAutoFit/>
          </a:bodyPr>
          <a:lstStyle/>
          <a:p>
            <a:pPr algn="ctr">
              <a:lnSpc>
                <a:spcPts val="4796"/>
              </a:lnSpc>
            </a:pPr>
            <a:r>
              <a:rPr lang="en-US" b="true" sz="3425">
                <a:solidFill>
                  <a:srgbClr val="000000"/>
                </a:solidFill>
                <a:latin typeface="League Spartan"/>
                <a:ea typeface="League Spartan"/>
                <a:cs typeface="League Spartan"/>
                <a:sym typeface="League Spartan"/>
              </a:rPr>
              <a:t>5</a:t>
            </a:r>
          </a:p>
        </p:txBody>
      </p:sp>
      <p:sp>
        <p:nvSpPr>
          <p:cNvPr name="TextBox 25" id="25"/>
          <p:cNvSpPr txBox="true"/>
          <p:nvPr/>
        </p:nvSpPr>
        <p:spPr>
          <a:xfrm rot="0">
            <a:off x="10678756" y="5099135"/>
            <a:ext cx="6697046" cy="4495800"/>
          </a:xfrm>
          <a:prstGeom prst="rect">
            <a:avLst/>
          </a:prstGeom>
        </p:spPr>
        <p:txBody>
          <a:bodyPr anchor="t" rtlCol="false" tIns="0" lIns="0" bIns="0" rIns="0">
            <a:spAutoFit/>
          </a:bodyPr>
          <a:lstStyle/>
          <a:p>
            <a:pPr algn="l">
              <a:lnSpc>
                <a:spcPts val="3359"/>
              </a:lnSpc>
            </a:pPr>
            <a:r>
              <a:rPr lang="en-US" sz="2399" b="true">
                <a:solidFill>
                  <a:srgbClr val="000000"/>
                </a:solidFill>
                <a:latin typeface="Canva Sans Bold"/>
                <a:ea typeface="Canva Sans Bold"/>
                <a:cs typeface="Canva Sans Bold"/>
                <a:sym typeface="Canva Sans Bold"/>
              </a:rPr>
              <a:t>Data Collection (server/data_collector.py) </a:t>
            </a:r>
          </a:p>
          <a:p>
            <a:pPr algn="l">
              <a:lnSpc>
                <a:spcPts val="3359"/>
              </a:lnSpc>
            </a:pPr>
            <a:r>
              <a:rPr lang="en-US" sz="2399" b="true">
                <a:solidFill>
                  <a:srgbClr val="000000"/>
                </a:solidFill>
                <a:latin typeface="Canva Sans Bold"/>
                <a:ea typeface="Canva Sans Bold"/>
                <a:cs typeface="Canva Sans Bold"/>
                <a:sym typeface="Canva Sans Bold"/>
              </a:rPr>
              <a:t>and Storage in InfluxDB:</a:t>
            </a:r>
          </a:p>
          <a:p>
            <a:pPr algn="l" marL="518157" indent="-259078" lvl="1">
              <a:lnSpc>
                <a:spcPts val="3359"/>
              </a:lnSpc>
              <a:buFont typeface="Arial"/>
              <a:buChar char="•"/>
            </a:pPr>
            <a:r>
              <a:rPr lang="en-US" sz="2399">
                <a:solidFill>
                  <a:srgbClr val="000000"/>
                </a:solidFill>
                <a:latin typeface="Canva Sans"/>
                <a:ea typeface="Canva Sans"/>
                <a:cs typeface="Canva Sans"/>
                <a:sym typeface="Canva Sans"/>
              </a:rPr>
              <a:t>Subscribes to all sensor topics on MQTT broker (10.0.0.254:1883) using paho-mqtt.</a:t>
            </a:r>
          </a:p>
          <a:p>
            <a:pPr algn="l" marL="518157" indent="-259078" lvl="1">
              <a:lnSpc>
                <a:spcPts val="3359"/>
              </a:lnSpc>
              <a:buFont typeface="Arial"/>
              <a:buChar char="•"/>
            </a:pPr>
            <a:r>
              <a:rPr lang="en-US" sz="2399">
                <a:solidFill>
                  <a:srgbClr val="000000"/>
                </a:solidFill>
                <a:latin typeface="Canva Sans"/>
                <a:ea typeface="Canva Sans"/>
                <a:cs typeface="Canva Sans"/>
                <a:sym typeface="Canva Sans"/>
              </a:rPr>
              <a:t>Parses JSON data to extract room, sensor ID, metric, and timestamp.</a:t>
            </a:r>
          </a:p>
          <a:p>
            <a:pPr algn="l" marL="518157" indent="-259078" lvl="1">
              <a:lnSpc>
                <a:spcPts val="3359"/>
              </a:lnSpc>
              <a:buFont typeface="Arial"/>
              <a:buChar char="•"/>
            </a:pPr>
            <a:r>
              <a:rPr lang="en-US" sz="2399">
                <a:solidFill>
                  <a:srgbClr val="000000"/>
                </a:solidFill>
                <a:latin typeface="Canva Sans"/>
                <a:ea typeface="Canva Sans"/>
                <a:cs typeface="Canva Sans"/>
                <a:sym typeface="Canva Sans"/>
              </a:rPr>
              <a:t>Stores readings in InfluxDB for fast ingestion and easy historical analytics, enabling later filtering and visualization.</a:t>
            </a:r>
          </a:p>
          <a:p>
            <a:pPr algn="l">
              <a:lnSpc>
                <a:spcPts val="2939"/>
              </a:lnSpc>
            </a:pPr>
          </a:p>
          <a:p>
            <a:pPr algn="l">
              <a:lnSpc>
                <a:spcPts val="2939"/>
              </a:lnSpc>
              <a:spcBef>
                <a:spcPct val="0"/>
              </a:spcBef>
            </a:pPr>
          </a:p>
        </p:txBody>
      </p:sp>
      <p:sp>
        <p:nvSpPr>
          <p:cNvPr name="TextBox 26" id="26"/>
          <p:cNvSpPr txBox="true"/>
          <p:nvPr/>
        </p:nvSpPr>
        <p:spPr>
          <a:xfrm rot="0">
            <a:off x="17375802" y="9333950"/>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808533" y="675210"/>
            <a:ext cx="670934" cy="67093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871623" y="704056"/>
            <a:ext cx="488584" cy="582613"/>
          </a:xfrm>
          <a:prstGeom prst="rect">
            <a:avLst/>
          </a:prstGeom>
        </p:spPr>
        <p:txBody>
          <a:bodyPr anchor="t" rtlCol="false" tIns="0" lIns="0" bIns="0" rIns="0">
            <a:spAutoFit/>
          </a:bodyPr>
          <a:lstStyle/>
          <a:p>
            <a:pPr algn="ctr">
              <a:lnSpc>
                <a:spcPts val="4796"/>
              </a:lnSpc>
            </a:pPr>
            <a:r>
              <a:rPr lang="en-US" b="true" sz="3425">
                <a:solidFill>
                  <a:srgbClr val="000000"/>
                </a:solidFill>
                <a:latin typeface="League Spartan"/>
                <a:ea typeface="League Spartan"/>
                <a:cs typeface="League Spartan"/>
                <a:sym typeface="League Spartan"/>
              </a:rPr>
              <a:t>7</a:t>
            </a:r>
          </a:p>
        </p:txBody>
      </p:sp>
      <p:sp>
        <p:nvSpPr>
          <p:cNvPr name="TextBox 7" id="7"/>
          <p:cNvSpPr txBox="true"/>
          <p:nvPr/>
        </p:nvSpPr>
        <p:spPr>
          <a:xfrm rot="0">
            <a:off x="9860598" y="655133"/>
            <a:ext cx="7312977" cy="4587240"/>
          </a:xfrm>
          <a:prstGeom prst="rect">
            <a:avLst/>
          </a:prstGeom>
        </p:spPr>
        <p:txBody>
          <a:bodyPr anchor="t" rtlCol="false" tIns="0" lIns="0" bIns="0" rIns="0">
            <a:spAutoFit/>
          </a:bodyPr>
          <a:lstStyle/>
          <a:p>
            <a:pPr algn="l">
              <a:lnSpc>
                <a:spcPts val="3359"/>
              </a:lnSpc>
            </a:pPr>
            <a:r>
              <a:rPr lang="en-US" sz="2400" b="true">
                <a:solidFill>
                  <a:srgbClr val="000000"/>
                </a:solidFill>
                <a:latin typeface="Canva Sans Bold"/>
                <a:ea typeface="Canva Sans Bold"/>
                <a:cs typeface="Canva Sans Bold"/>
                <a:sym typeface="Canva Sans Bold"/>
              </a:rPr>
              <a:t>Visualization with Grafana Dashboard:</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Visualization with Grafana Dashboard</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Connects to InfluxDB to display real-time graphs, heatmaps, and alert panels.</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V</a:t>
            </a:r>
            <a:r>
              <a:rPr lang="en-US" sz="2400">
                <a:solidFill>
                  <a:srgbClr val="000000"/>
                </a:solidFill>
                <a:latin typeface="Canva Sans"/>
                <a:ea typeface="Canva Sans"/>
                <a:cs typeface="Canva Sans"/>
                <a:sym typeface="Canva Sans"/>
              </a:rPr>
              <a:t>isualizes temperature, humidity, light, and CO₂ across rooms.</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Accessible via browser at </a:t>
            </a:r>
            <a:r>
              <a:rPr lang="en-US" sz="2400" u="sng">
                <a:solidFill>
                  <a:srgbClr val="000000"/>
                </a:solidFill>
                <a:latin typeface="Canva Sans"/>
                <a:ea typeface="Canva Sans"/>
                <a:cs typeface="Canva Sans"/>
                <a:sym typeface="Canva Sans"/>
                <a:hlinkClick r:id="rId3" tooltip="http://192.168.56.103:3000"/>
              </a:rPr>
              <a:t>http://192.168.56.103:3000</a:t>
            </a:r>
            <a:r>
              <a:rPr lang="en-US" sz="2400">
                <a:solidFill>
                  <a:srgbClr val="000000"/>
                </a:solidFill>
                <a:latin typeface="Canva Sans"/>
                <a:ea typeface="Canva Sans"/>
                <a:cs typeface="Canva Sans"/>
                <a:sym typeface="Canva Sans"/>
              </a:rPr>
              <a:t>.</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Support</a:t>
            </a:r>
            <a:r>
              <a:rPr lang="en-US" sz="2400">
                <a:solidFill>
                  <a:srgbClr val="000000"/>
                </a:solidFill>
                <a:latin typeface="Canva Sans"/>
                <a:ea typeface="Canva Sans"/>
                <a:cs typeface="Canva Sans"/>
                <a:sym typeface="Canva Sans"/>
              </a:rPr>
              <a:t>s centralized, data-driven monitoring and decision-making.</a:t>
            </a:r>
          </a:p>
          <a:p>
            <a:pPr algn="l">
              <a:lnSpc>
                <a:spcPts val="3359"/>
              </a:lnSpc>
              <a:spcBef>
                <a:spcPct val="0"/>
              </a:spcBef>
            </a:pPr>
          </a:p>
        </p:txBody>
      </p:sp>
      <p:sp>
        <p:nvSpPr>
          <p:cNvPr name="TextBox 8" id="8"/>
          <p:cNvSpPr txBox="true"/>
          <p:nvPr/>
        </p:nvSpPr>
        <p:spPr>
          <a:xfrm rot="0">
            <a:off x="1653367" y="4928281"/>
            <a:ext cx="6713373" cy="3749040"/>
          </a:xfrm>
          <a:prstGeom prst="rect">
            <a:avLst/>
          </a:prstGeom>
        </p:spPr>
        <p:txBody>
          <a:bodyPr anchor="t" rtlCol="false" tIns="0" lIns="0" bIns="0" rIns="0">
            <a:spAutoFit/>
          </a:bodyPr>
          <a:lstStyle/>
          <a:p>
            <a:pPr algn="l">
              <a:lnSpc>
                <a:spcPts val="3359"/>
              </a:lnSpc>
              <a:spcBef>
                <a:spcPct val="0"/>
              </a:spcBef>
            </a:pPr>
            <a:r>
              <a:rPr lang="en-US" b="true" sz="2400">
                <a:solidFill>
                  <a:srgbClr val="000000"/>
                </a:solidFill>
                <a:latin typeface="Canva Sans Bold"/>
                <a:ea typeface="Canva Sans Bold"/>
                <a:cs typeface="Canva Sans Bold"/>
                <a:sym typeface="Canva Sans Bold"/>
              </a:rPr>
              <a:t>Backend – REST API (web_dashb</a:t>
            </a:r>
            <a:r>
              <a:rPr lang="en-US" b="true" sz="2400">
                <a:solidFill>
                  <a:srgbClr val="000000"/>
                </a:solidFill>
                <a:latin typeface="Canva Sans Bold"/>
                <a:ea typeface="Canva Sans Bold"/>
                <a:cs typeface="Canva Sans Bold"/>
                <a:sym typeface="Canva Sans Bold"/>
              </a:rPr>
              <a:t>oard.py):</a:t>
            </a:r>
          </a:p>
          <a:p>
            <a:pPr algn="l" marL="518160" indent="-259080" lvl="1">
              <a:lnSpc>
                <a:spcPts val="3359"/>
              </a:lnSpc>
              <a:spcBef>
                <a:spcPct val="0"/>
              </a:spcBef>
              <a:buFont typeface="Arial"/>
              <a:buChar char="•"/>
            </a:pPr>
            <a:r>
              <a:rPr lang="en-US" sz="2400">
                <a:solidFill>
                  <a:srgbClr val="000000"/>
                </a:solidFill>
                <a:latin typeface="Canva Sans"/>
                <a:ea typeface="Canva Sans"/>
                <a:cs typeface="Canva Sans"/>
                <a:sym typeface="Canva Sans"/>
              </a:rPr>
              <a:t>Flask-based service exposing sensor and alert data from InfluxDB (port 8086).</a:t>
            </a:r>
          </a:p>
          <a:p>
            <a:pPr algn="l" marL="518160" indent="-259080" lvl="1">
              <a:lnSpc>
                <a:spcPts val="3359"/>
              </a:lnSpc>
              <a:spcBef>
                <a:spcPct val="0"/>
              </a:spcBef>
              <a:buFont typeface="Arial"/>
              <a:buChar char="•"/>
            </a:pPr>
            <a:r>
              <a:rPr lang="en-US" sz="2400">
                <a:solidFill>
                  <a:srgbClr val="000000"/>
                </a:solidFill>
                <a:latin typeface="Canva Sans"/>
                <a:ea typeface="Canva Sans"/>
                <a:cs typeface="Canva Sans"/>
                <a:sym typeface="Canva Sans"/>
              </a:rPr>
              <a:t>E</a:t>
            </a:r>
            <a:r>
              <a:rPr lang="en-US" sz="2400">
                <a:solidFill>
                  <a:srgbClr val="000000"/>
                </a:solidFill>
                <a:latin typeface="Canva Sans"/>
                <a:ea typeface="Canva Sans"/>
                <a:cs typeface="Canva Sans"/>
                <a:sym typeface="Canva Sans"/>
              </a:rPr>
              <a:t>ndpoints for registering sensors, listing rooms, getting latest/historic readings, and thresholds/alerts.</a:t>
            </a:r>
          </a:p>
          <a:p>
            <a:pPr algn="l" marL="518160" indent="-259080" lvl="1">
              <a:lnSpc>
                <a:spcPts val="3359"/>
              </a:lnSpc>
              <a:spcBef>
                <a:spcPct val="0"/>
              </a:spcBef>
              <a:buFont typeface="Arial"/>
              <a:buChar char="•"/>
            </a:pPr>
            <a:r>
              <a:rPr lang="en-US" sz="2400">
                <a:solidFill>
                  <a:srgbClr val="000000"/>
                </a:solidFill>
                <a:latin typeface="Canva Sans"/>
                <a:ea typeface="Canva Sans"/>
                <a:cs typeface="Canva Sans"/>
                <a:sym typeface="Canva Sans"/>
              </a:rPr>
              <a:t>Runs on port 5000, serving HTTP data for web dashboards and other applications.</a:t>
            </a:r>
          </a:p>
          <a:p>
            <a:pPr algn="l">
              <a:lnSpc>
                <a:spcPts val="3359"/>
              </a:lnSpc>
              <a:spcBef>
                <a:spcPct val="0"/>
              </a:spcBef>
            </a:pPr>
          </a:p>
        </p:txBody>
      </p:sp>
      <p:sp>
        <p:nvSpPr>
          <p:cNvPr name="TextBox 9" id="9"/>
          <p:cNvSpPr txBox="true"/>
          <p:nvPr/>
        </p:nvSpPr>
        <p:spPr>
          <a:xfrm rot="0">
            <a:off x="9860598" y="5263748"/>
            <a:ext cx="7253485" cy="4168140"/>
          </a:xfrm>
          <a:prstGeom prst="rect">
            <a:avLst/>
          </a:prstGeom>
        </p:spPr>
        <p:txBody>
          <a:bodyPr anchor="t" rtlCol="false" tIns="0" lIns="0" bIns="0" rIns="0">
            <a:spAutoFit/>
          </a:bodyPr>
          <a:lstStyle/>
          <a:p>
            <a:pPr algn="l">
              <a:lnSpc>
                <a:spcPts val="3359"/>
              </a:lnSpc>
            </a:pPr>
            <a:r>
              <a:rPr lang="en-US" sz="2400" b="true">
                <a:solidFill>
                  <a:srgbClr val="000000"/>
                </a:solidFill>
                <a:latin typeface="Canva Sans Bold"/>
                <a:ea typeface="Canva Sans Bold"/>
                <a:cs typeface="Canva Sans Bold"/>
                <a:sym typeface="Canva Sans Bold"/>
              </a:rPr>
              <a:t>Frontend – Custom Web Dashboard (app.py):</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Built with Dash (Plotly) for interactive, real-time visualization.</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Fetches sensor and alert data from Flask API (port 5000).</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Displays metrics, heatmaps, alerts; supports room filtering and history.</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Run</a:t>
            </a:r>
            <a:r>
              <a:rPr lang="en-US" sz="2400">
                <a:solidFill>
                  <a:srgbClr val="000000"/>
                </a:solidFill>
                <a:latin typeface="Canva Sans"/>
                <a:ea typeface="Canva Sans"/>
                <a:cs typeface="Canva Sans"/>
                <a:sym typeface="Canva Sans"/>
              </a:rPr>
              <a:t>s on port 8050, accessible in any web browser.</a:t>
            </a:r>
          </a:p>
          <a:p>
            <a:pPr algn="l">
              <a:lnSpc>
                <a:spcPts val="3359"/>
              </a:lnSpc>
              <a:spcBef>
                <a:spcPct val="0"/>
              </a:spcBef>
            </a:pPr>
          </a:p>
        </p:txBody>
      </p:sp>
      <p:grpSp>
        <p:nvGrpSpPr>
          <p:cNvPr name="Group 10" id="10"/>
          <p:cNvGrpSpPr/>
          <p:nvPr/>
        </p:nvGrpSpPr>
        <p:grpSpPr>
          <a:xfrm rot="0">
            <a:off x="866081" y="4630914"/>
            <a:ext cx="670934" cy="67093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957256" y="4719236"/>
            <a:ext cx="488584" cy="582613"/>
          </a:xfrm>
          <a:prstGeom prst="rect">
            <a:avLst/>
          </a:prstGeom>
        </p:spPr>
        <p:txBody>
          <a:bodyPr anchor="t" rtlCol="false" tIns="0" lIns="0" bIns="0" rIns="0">
            <a:spAutoFit/>
          </a:bodyPr>
          <a:lstStyle/>
          <a:p>
            <a:pPr algn="ctr">
              <a:lnSpc>
                <a:spcPts val="4796"/>
              </a:lnSpc>
            </a:pPr>
            <a:r>
              <a:rPr lang="en-US" b="true" sz="3425">
                <a:solidFill>
                  <a:srgbClr val="000000"/>
                </a:solidFill>
                <a:latin typeface="League Spartan"/>
                <a:ea typeface="League Spartan"/>
                <a:cs typeface="League Spartan"/>
                <a:sym typeface="League Spartan"/>
              </a:rPr>
              <a:t>8</a:t>
            </a:r>
          </a:p>
        </p:txBody>
      </p:sp>
      <p:grpSp>
        <p:nvGrpSpPr>
          <p:cNvPr name="Group 14" id="14"/>
          <p:cNvGrpSpPr/>
          <p:nvPr/>
        </p:nvGrpSpPr>
        <p:grpSpPr>
          <a:xfrm rot="0">
            <a:off x="8962798" y="5043879"/>
            <a:ext cx="670934" cy="67093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9053973" y="5175698"/>
            <a:ext cx="488584" cy="582613"/>
          </a:xfrm>
          <a:prstGeom prst="rect">
            <a:avLst/>
          </a:prstGeom>
        </p:spPr>
        <p:txBody>
          <a:bodyPr anchor="t" rtlCol="false" tIns="0" lIns="0" bIns="0" rIns="0">
            <a:spAutoFit/>
          </a:bodyPr>
          <a:lstStyle/>
          <a:p>
            <a:pPr algn="ctr">
              <a:lnSpc>
                <a:spcPts val="4796"/>
              </a:lnSpc>
            </a:pPr>
            <a:r>
              <a:rPr lang="en-US" b="true" sz="3425">
                <a:solidFill>
                  <a:srgbClr val="000000"/>
                </a:solidFill>
                <a:latin typeface="League Spartan"/>
                <a:ea typeface="League Spartan"/>
                <a:cs typeface="League Spartan"/>
                <a:sym typeface="League Spartan"/>
              </a:rPr>
              <a:t>9</a:t>
            </a:r>
          </a:p>
        </p:txBody>
      </p:sp>
      <p:grpSp>
        <p:nvGrpSpPr>
          <p:cNvPr name="Group 18" id="18"/>
          <p:cNvGrpSpPr/>
          <p:nvPr/>
        </p:nvGrpSpPr>
        <p:grpSpPr>
          <a:xfrm rot="0">
            <a:off x="0" y="10053586"/>
            <a:ext cx="4705626" cy="260346"/>
            <a:chOff x="0" y="0"/>
            <a:chExt cx="1239342" cy="68569"/>
          </a:xfrm>
        </p:grpSpPr>
        <p:sp>
          <p:nvSpPr>
            <p:cNvPr name="Freeform 19" id="19"/>
            <p:cNvSpPr/>
            <p:nvPr/>
          </p:nvSpPr>
          <p:spPr>
            <a:xfrm flipH="false" flipV="false" rot="0">
              <a:off x="0" y="0"/>
              <a:ext cx="1239342" cy="68569"/>
            </a:xfrm>
            <a:custGeom>
              <a:avLst/>
              <a:gdLst/>
              <a:ahLst/>
              <a:cxnLst/>
              <a:rect r="r" b="b" t="t" l="l"/>
              <a:pathLst>
                <a:path h="68569" w="1239342">
                  <a:moveTo>
                    <a:pt x="0" y="0"/>
                  </a:moveTo>
                  <a:lnTo>
                    <a:pt x="1239342" y="0"/>
                  </a:lnTo>
                  <a:lnTo>
                    <a:pt x="1239342" y="68569"/>
                  </a:lnTo>
                  <a:lnTo>
                    <a:pt x="0" y="68569"/>
                  </a:lnTo>
                  <a:close/>
                </a:path>
              </a:pathLst>
            </a:custGeom>
            <a:solidFill>
              <a:srgbClr val="004AAD"/>
            </a:solidFill>
          </p:spPr>
        </p:sp>
        <p:sp>
          <p:nvSpPr>
            <p:cNvPr name="TextBox 20" id="20"/>
            <p:cNvSpPr txBox="true"/>
            <p:nvPr/>
          </p:nvSpPr>
          <p:spPr>
            <a:xfrm>
              <a:off x="0" y="-47625"/>
              <a:ext cx="1239342" cy="116194"/>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4575503" y="10081451"/>
            <a:ext cx="3712497" cy="352656"/>
            <a:chOff x="0" y="0"/>
            <a:chExt cx="977777" cy="92881"/>
          </a:xfrm>
        </p:grpSpPr>
        <p:sp>
          <p:nvSpPr>
            <p:cNvPr name="Freeform 22" id="22"/>
            <p:cNvSpPr/>
            <p:nvPr/>
          </p:nvSpPr>
          <p:spPr>
            <a:xfrm flipH="false" flipV="false" rot="0">
              <a:off x="0" y="0"/>
              <a:ext cx="977777" cy="92881"/>
            </a:xfrm>
            <a:custGeom>
              <a:avLst/>
              <a:gdLst/>
              <a:ahLst/>
              <a:cxnLst/>
              <a:rect r="r" b="b" t="t" l="l"/>
              <a:pathLst>
                <a:path h="92881" w="977777">
                  <a:moveTo>
                    <a:pt x="0" y="0"/>
                  </a:moveTo>
                  <a:lnTo>
                    <a:pt x="977777" y="0"/>
                  </a:lnTo>
                  <a:lnTo>
                    <a:pt x="977777" y="92881"/>
                  </a:lnTo>
                  <a:lnTo>
                    <a:pt x="0" y="92881"/>
                  </a:lnTo>
                  <a:close/>
                </a:path>
              </a:pathLst>
            </a:custGeom>
            <a:solidFill>
              <a:srgbClr val="004AAD"/>
            </a:solidFill>
          </p:spPr>
        </p:sp>
        <p:sp>
          <p:nvSpPr>
            <p:cNvPr name="TextBox 23" id="23"/>
            <p:cNvSpPr txBox="true"/>
            <p:nvPr/>
          </p:nvSpPr>
          <p:spPr>
            <a:xfrm>
              <a:off x="0" y="-47625"/>
              <a:ext cx="977777" cy="140506"/>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653367" y="990600"/>
            <a:ext cx="6501933" cy="3329940"/>
          </a:xfrm>
          <a:prstGeom prst="rect">
            <a:avLst/>
          </a:prstGeom>
        </p:spPr>
        <p:txBody>
          <a:bodyPr anchor="t" rtlCol="false" tIns="0" lIns="0" bIns="0" rIns="0">
            <a:spAutoFit/>
          </a:bodyPr>
          <a:lstStyle/>
          <a:p>
            <a:pPr algn="l">
              <a:lnSpc>
                <a:spcPts val="3359"/>
              </a:lnSpc>
            </a:pPr>
            <a:r>
              <a:rPr lang="en-US" sz="2400" b="true">
                <a:solidFill>
                  <a:srgbClr val="000000"/>
                </a:solidFill>
                <a:latin typeface="Canva Sans Bold"/>
                <a:ea typeface="Canva Sans Bold"/>
                <a:cs typeface="Canva Sans Bold"/>
                <a:sym typeface="Canva Sans Bold"/>
              </a:rPr>
              <a:t>Anomaly Detection (server/anomaly_detector.py):</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Subscribes to MQTT sensor data stream.</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Checks readings against thresholds (e.g., CO₂ &gt; 1000 ppm, light &lt; 300 lux).</a:t>
            </a:r>
          </a:p>
          <a:p>
            <a:pPr algn="l" marL="518160" indent="-259080" lvl="1">
              <a:lnSpc>
                <a:spcPts val="3359"/>
              </a:lnSpc>
              <a:buFont typeface="Arial"/>
              <a:buChar char="•"/>
            </a:pPr>
            <a:r>
              <a:rPr lang="en-US" sz="2400">
                <a:solidFill>
                  <a:srgbClr val="000000"/>
                </a:solidFill>
                <a:latin typeface="Canva Sans"/>
                <a:ea typeface="Canva Sans"/>
                <a:cs typeface="Canva Sans"/>
                <a:sym typeface="Canva Sans"/>
              </a:rPr>
              <a:t>On anomaly: prints real-time alerts and logs them to InfluxDB for later analysis.</a:t>
            </a:r>
          </a:p>
          <a:p>
            <a:pPr algn="l">
              <a:lnSpc>
                <a:spcPts val="3359"/>
              </a:lnSpc>
              <a:spcBef>
                <a:spcPct val="0"/>
              </a:spcBef>
            </a:pPr>
          </a:p>
        </p:txBody>
      </p:sp>
      <p:grpSp>
        <p:nvGrpSpPr>
          <p:cNvPr name="Group 25" id="25"/>
          <p:cNvGrpSpPr/>
          <p:nvPr/>
        </p:nvGrpSpPr>
        <p:grpSpPr>
          <a:xfrm rot="0">
            <a:off x="883467" y="693233"/>
            <a:ext cx="670934" cy="67093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957256" y="763531"/>
            <a:ext cx="488584" cy="582613"/>
          </a:xfrm>
          <a:prstGeom prst="rect">
            <a:avLst/>
          </a:prstGeom>
        </p:spPr>
        <p:txBody>
          <a:bodyPr anchor="t" rtlCol="false" tIns="0" lIns="0" bIns="0" rIns="0">
            <a:spAutoFit/>
          </a:bodyPr>
          <a:lstStyle/>
          <a:p>
            <a:pPr algn="ctr">
              <a:lnSpc>
                <a:spcPts val="4796"/>
              </a:lnSpc>
            </a:pPr>
            <a:r>
              <a:rPr lang="en-US" b="true" sz="3425">
                <a:solidFill>
                  <a:srgbClr val="000000"/>
                </a:solidFill>
                <a:latin typeface="League Spartan"/>
                <a:ea typeface="League Spartan"/>
                <a:cs typeface="League Spartan"/>
                <a:sym typeface="League Spartan"/>
              </a:rPr>
              <a:t>6</a:t>
            </a:r>
          </a:p>
        </p:txBody>
      </p:sp>
      <p:sp>
        <p:nvSpPr>
          <p:cNvPr name="TextBox 29" id="29"/>
          <p:cNvSpPr txBox="true"/>
          <p:nvPr/>
        </p:nvSpPr>
        <p:spPr>
          <a:xfrm rot="0">
            <a:off x="17522938" y="9201150"/>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9863732"/>
            <a:ext cx="18288000" cy="423268"/>
            <a:chOff x="0" y="0"/>
            <a:chExt cx="4816593" cy="111478"/>
          </a:xfrm>
        </p:grpSpPr>
        <p:sp>
          <p:nvSpPr>
            <p:cNvPr name="Freeform 4" id="4"/>
            <p:cNvSpPr/>
            <p:nvPr/>
          </p:nvSpPr>
          <p:spPr>
            <a:xfrm flipH="false" flipV="false" rot="0">
              <a:off x="0" y="0"/>
              <a:ext cx="4816592" cy="111478"/>
            </a:xfrm>
            <a:custGeom>
              <a:avLst/>
              <a:gdLst/>
              <a:ahLst/>
              <a:cxnLst/>
              <a:rect r="r" b="b" t="t" l="l"/>
              <a:pathLst>
                <a:path h="111478" w="4816592">
                  <a:moveTo>
                    <a:pt x="0" y="0"/>
                  </a:moveTo>
                  <a:lnTo>
                    <a:pt x="4816592" y="0"/>
                  </a:lnTo>
                  <a:lnTo>
                    <a:pt x="4816592" y="111478"/>
                  </a:lnTo>
                  <a:lnTo>
                    <a:pt x="0" y="111478"/>
                  </a:lnTo>
                  <a:close/>
                </a:path>
              </a:pathLst>
            </a:custGeom>
            <a:solidFill>
              <a:srgbClr val="004AAD"/>
            </a:solidFill>
          </p:spPr>
        </p:sp>
        <p:sp>
          <p:nvSpPr>
            <p:cNvPr name="TextBox 5" id="5"/>
            <p:cNvSpPr txBox="true"/>
            <p:nvPr/>
          </p:nvSpPr>
          <p:spPr>
            <a:xfrm>
              <a:off x="0" y="-47625"/>
              <a:ext cx="4816593" cy="15910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79520" y="3427195"/>
            <a:ext cx="8451925" cy="5536011"/>
          </a:xfrm>
          <a:custGeom>
            <a:avLst/>
            <a:gdLst/>
            <a:ahLst/>
            <a:cxnLst/>
            <a:rect r="r" b="b" t="t" l="l"/>
            <a:pathLst>
              <a:path h="5536011" w="8451925">
                <a:moveTo>
                  <a:pt x="0" y="0"/>
                </a:moveTo>
                <a:lnTo>
                  <a:pt x="8451925" y="0"/>
                </a:lnTo>
                <a:lnTo>
                  <a:pt x="8451925" y="5536011"/>
                </a:lnTo>
                <a:lnTo>
                  <a:pt x="0" y="5536011"/>
                </a:lnTo>
                <a:lnTo>
                  <a:pt x="0" y="0"/>
                </a:lnTo>
                <a:close/>
              </a:path>
            </a:pathLst>
          </a:custGeom>
          <a:blipFill>
            <a:blip r:embed="rId3"/>
            <a:stretch>
              <a:fillRect l="0" t="0" r="0" b="0"/>
            </a:stretch>
          </a:blipFill>
        </p:spPr>
      </p:sp>
      <p:sp>
        <p:nvSpPr>
          <p:cNvPr name="Freeform 7" id="7"/>
          <p:cNvSpPr/>
          <p:nvPr/>
        </p:nvSpPr>
        <p:spPr>
          <a:xfrm flipH="false" flipV="false" rot="0">
            <a:off x="9441397" y="3427195"/>
            <a:ext cx="8700999" cy="5536011"/>
          </a:xfrm>
          <a:custGeom>
            <a:avLst/>
            <a:gdLst/>
            <a:ahLst/>
            <a:cxnLst/>
            <a:rect r="r" b="b" t="t" l="l"/>
            <a:pathLst>
              <a:path h="5536011" w="8700999">
                <a:moveTo>
                  <a:pt x="0" y="0"/>
                </a:moveTo>
                <a:lnTo>
                  <a:pt x="8701000" y="0"/>
                </a:lnTo>
                <a:lnTo>
                  <a:pt x="8701000" y="5536011"/>
                </a:lnTo>
                <a:lnTo>
                  <a:pt x="0" y="5536011"/>
                </a:lnTo>
                <a:lnTo>
                  <a:pt x="0" y="0"/>
                </a:lnTo>
                <a:close/>
              </a:path>
            </a:pathLst>
          </a:custGeom>
          <a:blipFill>
            <a:blip r:embed="rId4"/>
            <a:stretch>
              <a:fillRect l="0" t="0" r="0" b="0"/>
            </a:stretch>
          </a:blipFill>
        </p:spPr>
      </p:sp>
      <p:sp>
        <p:nvSpPr>
          <p:cNvPr name="TextBox 8" id="8"/>
          <p:cNvSpPr txBox="true"/>
          <p:nvPr/>
        </p:nvSpPr>
        <p:spPr>
          <a:xfrm rot="0">
            <a:off x="5577224" y="115785"/>
            <a:ext cx="8419217"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OBJECTIVES ACHIEVED</a:t>
            </a:r>
          </a:p>
        </p:txBody>
      </p:sp>
      <p:sp>
        <p:nvSpPr>
          <p:cNvPr name="TextBox 9" id="9"/>
          <p:cNvSpPr txBox="true"/>
          <p:nvPr/>
        </p:nvSpPr>
        <p:spPr>
          <a:xfrm rot="0">
            <a:off x="479520" y="1773655"/>
            <a:ext cx="8451925" cy="1653540"/>
          </a:xfrm>
          <a:prstGeom prst="rect">
            <a:avLst/>
          </a:prstGeom>
        </p:spPr>
        <p:txBody>
          <a:bodyPr anchor="t" rtlCol="false" tIns="0" lIns="0" bIns="0" rIns="0">
            <a:spAutoFit/>
          </a:bodyPr>
          <a:lstStyle/>
          <a:p>
            <a:pPr algn="ctr">
              <a:lnSpc>
                <a:spcPts val="3359"/>
              </a:lnSpc>
              <a:spcBef>
                <a:spcPct val="0"/>
              </a:spcBef>
            </a:pPr>
            <a:r>
              <a:rPr lang="en-US" sz="2400">
                <a:solidFill>
                  <a:srgbClr val="000000"/>
                </a:solidFill>
                <a:latin typeface="Canva Sans"/>
                <a:ea typeface="Canva Sans"/>
                <a:cs typeface="Canva Sans"/>
                <a:sym typeface="Canva Sans"/>
              </a:rPr>
              <a:t>The terminal output below shows real-time sensor data being collected and logged via MQTT, confirming successful data ingestion by the collector for dashboard analysis.</a:t>
            </a:r>
          </a:p>
        </p:txBody>
      </p:sp>
      <p:sp>
        <p:nvSpPr>
          <p:cNvPr name="TextBox 10" id="10"/>
          <p:cNvSpPr txBox="true"/>
          <p:nvPr/>
        </p:nvSpPr>
        <p:spPr>
          <a:xfrm rot="0">
            <a:off x="9327048" y="1897480"/>
            <a:ext cx="8510634" cy="1234440"/>
          </a:xfrm>
          <a:prstGeom prst="rect">
            <a:avLst/>
          </a:prstGeom>
        </p:spPr>
        <p:txBody>
          <a:bodyPr anchor="t" rtlCol="false" tIns="0" lIns="0" bIns="0" rIns="0">
            <a:spAutoFit/>
          </a:bodyPr>
          <a:lstStyle/>
          <a:p>
            <a:pPr algn="ctr">
              <a:lnSpc>
                <a:spcPts val="3359"/>
              </a:lnSpc>
              <a:spcBef>
                <a:spcPct val="0"/>
              </a:spcBef>
            </a:pPr>
            <a:r>
              <a:rPr lang="en-US" sz="2399">
                <a:solidFill>
                  <a:srgbClr val="000000"/>
                </a:solidFill>
                <a:latin typeface="Canva Sans"/>
                <a:ea typeface="Canva Sans"/>
                <a:cs typeface="Canva Sans"/>
                <a:sym typeface="Canva Sans"/>
              </a:rPr>
              <a:t>The terminal output below confirms that </a:t>
            </a:r>
            <a:r>
              <a:rPr lang="en-US" sz="2399">
                <a:solidFill>
                  <a:srgbClr val="000000"/>
                </a:solidFill>
                <a:latin typeface="Canva Sans"/>
                <a:ea typeface="Canva Sans"/>
                <a:cs typeface="Canva Sans"/>
                <a:sym typeface="Canva Sans"/>
              </a:rPr>
              <a:t>the anomaly detector is issuing real-time alerts for abnormal environmental values across monitored rooms.</a:t>
            </a:r>
          </a:p>
        </p:txBody>
      </p:sp>
      <p:grpSp>
        <p:nvGrpSpPr>
          <p:cNvPr name="Group 11" id="11"/>
          <p:cNvGrpSpPr/>
          <p:nvPr/>
        </p:nvGrpSpPr>
        <p:grpSpPr>
          <a:xfrm rot="0">
            <a:off x="286014" y="-1879699"/>
            <a:ext cx="18288000" cy="3086100"/>
            <a:chOff x="0" y="0"/>
            <a:chExt cx="4816593" cy="812800"/>
          </a:xfrm>
        </p:grpSpPr>
        <p:sp>
          <p:nvSpPr>
            <p:cNvPr name="Freeform 12" id="12"/>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gradFill rotWithShape="true">
              <a:gsLst>
                <a:gs pos="0">
                  <a:srgbClr val="0085FF">
                    <a:alpha val="0"/>
                  </a:srgbClr>
                </a:gs>
                <a:gs pos="50000">
                  <a:srgbClr val="001BD1">
                    <a:alpha val="58000"/>
                  </a:srgbClr>
                </a:gs>
                <a:gs pos="100000">
                  <a:srgbClr val="0085FF">
                    <a:alpha val="0"/>
                  </a:srgbClr>
                </a:gs>
              </a:gsLst>
              <a:lin ang="0"/>
            </a:gradFill>
          </p:spPr>
        </p:sp>
        <p:sp>
          <p:nvSpPr>
            <p:cNvPr name="TextBox 13" id="13"/>
            <p:cNvSpPr txBox="true"/>
            <p:nvPr/>
          </p:nvSpPr>
          <p:spPr>
            <a:xfrm>
              <a:off x="0" y="-38100"/>
              <a:ext cx="4816593" cy="8509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723333" y="9201150"/>
            <a:ext cx="228699"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9863732"/>
            <a:ext cx="18288000" cy="423268"/>
            <a:chOff x="0" y="0"/>
            <a:chExt cx="4816593" cy="111478"/>
          </a:xfrm>
        </p:grpSpPr>
        <p:sp>
          <p:nvSpPr>
            <p:cNvPr name="Freeform 4" id="4"/>
            <p:cNvSpPr/>
            <p:nvPr/>
          </p:nvSpPr>
          <p:spPr>
            <a:xfrm flipH="false" flipV="false" rot="0">
              <a:off x="0" y="0"/>
              <a:ext cx="4816592" cy="111478"/>
            </a:xfrm>
            <a:custGeom>
              <a:avLst/>
              <a:gdLst/>
              <a:ahLst/>
              <a:cxnLst/>
              <a:rect r="r" b="b" t="t" l="l"/>
              <a:pathLst>
                <a:path h="111478" w="4816592">
                  <a:moveTo>
                    <a:pt x="0" y="0"/>
                  </a:moveTo>
                  <a:lnTo>
                    <a:pt x="4816592" y="0"/>
                  </a:lnTo>
                  <a:lnTo>
                    <a:pt x="4816592" y="111478"/>
                  </a:lnTo>
                  <a:lnTo>
                    <a:pt x="0" y="111478"/>
                  </a:lnTo>
                  <a:close/>
                </a:path>
              </a:pathLst>
            </a:custGeom>
            <a:solidFill>
              <a:srgbClr val="004AAD"/>
            </a:solidFill>
          </p:spPr>
        </p:sp>
        <p:sp>
          <p:nvSpPr>
            <p:cNvPr name="TextBox 5" id="5"/>
            <p:cNvSpPr txBox="true"/>
            <p:nvPr/>
          </p:nvSpPr>
          <p:spPr>
            <a:xfrm>
              <a:off x="0" y="-47625"/>
              <a:ext cx="4816593" cy="15910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88850" y="2714998"/>
            <a:ext cx="6247079" cy="2795568"/>
          </a:xfrm>
          <a:custGeom>
            <a:avLst/>
            <a:gdLst/>
            <a:ahLst/>
            <a:cxnLst/>
            <a:rect r="r" b="b" t="t" l="l"/>
            <a:pathLst>
              <a:path h="2795568" w="6247079">
                <a:moveTo>
                  <a:pt x="0" y="0"/>
                </a:moveTo>
                <a:lnTo>
                  <a:pt x="6247079" y="0"/>
                </a:lnTo>
                <a:lnTo>
                  <a:pt x="6247079" y="2795567"/>
                </a:lnTo>
                <a:lnTo>
                  <a:pt x="0" y="2795567"/>
                </a:lnTo>
                <a:lnTo>
                  <a:pt x="0" y="0"/>
                </a:lnTo>
                <a:close/>
              </a:path>
            </a:pathLst>
          </a:custGeom>
          <a:blipFill>
            <a:blip r:embed="rId3"/>
            <a:stretch>
              <a:fillRect l="0" t="0" r="0" b="0"/>
            </a:stretch>
          </a:blipFill>
        </p:spPr>
      </p:sp>
      <p:sp>
        <p:nvSpPr>
          <p:cNvPr name="Freeform 7" id="7"/>
          <p:cNvSpPr/>
          <p:nvPr/>
        </p:nvSpPr>
        <p:spPr>
          <a:xfrm flipH="false" flipV="false" rot="0">
            <a:off x="803385" y="3580042"/>
            <a:ext cx="7563183" cy="5403676"/>
          </a:xfrm>
          <a:custGeom>
            <a:avLst/>
            <a:gdLst/>
            <a:ahLst/>
            <a:cxnLst/>
            <a:rect r="r" b="b" t="t" l="l"/>
            <a:pathLst>
              <a:path h="5403676" w="7563183">
                <a:moveTo>
                  <a:pt x="0" y="0"/>
                </a:moveTo>
                <a:lnTo>
                  <a:pt x="7563182" y="0"/>
                </a:lnTo>
                <a:lnTo>
                  <a:pt x="7563182" y="5403676"/>
                </a:lnTo>
                <a:lnTo>
                  <a:pt x="0" y="5403676"/>
                </a:lnTo>
                <a:lnTo>
                  <a:pt x="0" y="0"/>
                </a:lnTo>
                <a:close/>
              </a:path>
            </a:pathLst>
          </a:custGeom>
          <a:blipFill>
            <a:blip r:embed="rId4"/>
            <a:stretch>
              <a:fillRect l="-671" t="0" r="-671" b="0"/>
            </a:stretch>
          </a:blipFill>
        </p:spPr>
      </p:sp>
      <p:sp>
        <p:nvSpPr>
          <p:cNvPr name="TextBox 8" id="8"/>
          <p:cNvSpPr txBox="true"/>
          <p:nvPr/>
        </p:nvSpPr>
        <p:spPr>
          <a:xfrm rot="0">
            <a:off x="5577224" y="115785"/>
            <a:ext cx="8419217"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OBJECTIVES ACHIEVED</a:t>
            </a:r>
          </a:p>
        </p:txBody>
      </p:sp>
      <p:grpSp>
        <p:nvGrpSpPr>
          <p:cNvPr name="Group 9" id="9"/>
          <p:cNvGrpSpPr/>
          <p:nvPr/>
        </p:nvGrpSpPr>
        <p:grpSpPr>
          <a:xfrm rot="0">
            <a:off x="211598" y="-1711466"/>
            <a:ext cx="18288000" cy="3086100"/>
            <a:chOff x="0" y="0"/>
            <a:chExt cx="4816593" cy="812800"/>
          </a:xfrm>
        </p:grpSpPr>
        <p:sp>
          <p:nvSpPr>
            <p:cNvPr name="Freeform 10" id="10"/>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gradFill rotWithShape="true">
              <a:gsLst>
                <a:gs pos="0">
                  <a:srgbClr val="0085FF">
                    <a:alpha val="0"/>
                  </a:srgbClr>
                </a:gs>
                <a:gs pos="50000">
                  <a:srgbClr val="001BD1">
                    <a:alpha val="58000"/>
                  </a:srgbClr>
                </a:gs>
                <a:gs pos="100000">
                  <a:srgbClr val="0085FF">
                    <a:alpha val="0"/>
                  </a:srgbClr>
                </a:gs>
              </a:gsLst>
              <a:lin ang="0"/>
            </a:gradFill>
          </p:spPr>
        </p:sp>
        <p:sp>
          <p:nvSpPr>
            <p:cNvPr name="TextBox 11" id="11"/>
            <p:cNvSpPr txBox="true"/>
            <p:nvPr/>
          </p:nvSpPr>
          <p:spPr>
            <a:xfrm>
              <a:off x="0" y="-38100"/>
              <a:ext cx="4816593"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2411132" y="5569106"/>
            <a:ext cx="4848168" cy="4236087"/>
          </a:xfrm>
          <a:custGeom>
            <a:avLst/>
            <a:gdLst/>
            <a:ahLst/>
            <a:cxnLst/>
            <a:rect r="r" b="b" t="t" l="l"/>
            <a:pathLst>
              <a:path h="4236087" w="4848168">
                <a:moveTo>
                  <a:pt x="0" y="0"/>
                </a:moveTo>
                <a:lnTo>
                  <a:pt x="4848168" y="0"/>
                </a:lnTo>
                <a:lnTo>
                  <a:pt x="4848168" y="4236086"/>
                </a:lnTo>
                <a:lnTo>
                  <a:pt x="0" y="4236086"/>
                </a:lnTo>
                <a:lnTo>
                  <a:pt x="0" y="0"/>
                </a:lnTo>
                <a:close/>
              </a:path>
            </a:pathLst>
          </a:custGeom>
          <a:blipFill>
            <a:blip r:embed="rId5"/>
            <a:stretch>
              <a:fillRect l="0" t="0" r="0" b="0"/>
            </a:stretch>
          </a:blipFill>
        </p:spPr>
      </p:sp>
      <p:sp>
        <p:nvSpPr>
          <p:cNvPr name="TextBox 13" id="13"/>
          <p:cNvSpPr txBox="true"/>
          <p:nvPr/>
        </p:nvSpPr>
        <p:spPr>
          <a:xfrm rot="0">
            <a:off x="8725967" y="1688959"/>
            <a:ext cx="7909962" cy="844584"/>
          </a:xfrm>
          <a:prstGeom prst="rect">
            <a:avLst/>
          </a:prstGeom>
        </p:spPr>
        <p:txBody>
          <a:bodyPr anchor="t" rtlCol="false" tIns="0" lIns="0" bIns="0" rIns="0">
            <a:spAutoFit/>
          </a:bodyPr>
          <a:lstStyle/>
          <a:p>
            <a:pPr algn="l">
              <a:lnSpc>
                <a:spcPts val="2273"/>
              </a:lnSpc>
              <a:spcBef>
                <a:spcPct val="0"/>
              </a:spcBef>
            </a:pPr>
            <a:r>
              <a:rPr lang="en-US" sz="1623">
                <a:solidFill>
                  <a:srgbClr val="000000"/>
                </a:solidFill>
                <a:latin typeface="Canva Sans"/>
                <a:ea typeface="Canva Sans"/>
                <a:cs typeface="Canva Sans"/>
                <a:sym typeface="Canva Sans"/>
              </a:rPr>
              <a:t>The pl</a:t>
            </a:r>
            <a:r>
              <a:rPr lang="en-US" sz="1623">
                <a:solidFill>
                  <a:srgbClr val="000000"/>
                </a:solidFill>
                <a:latin typeface="Canva Sans"/>
                <a:ea typeface="Canva Sans"/>
                <a:cs typeface="Canva Sans"/>
                <a:sym typeface="Canva Sans"/>
              </a:rPr>
              <a:t>otly dashboard below visualizes past trends of individual environmental metrics temperature, humidity, light intensity, and CO₂ levels over time, helping to monitor and analyze variations in room conditions.</a:t>
            </a:r>
          </a:p>
        </p:txBody>
      </p:sp>
      <p:sp>
        <p:nvSpPr>
          <p:cNvPr name="TextBox 14" id="14"/>
          <p:cNvSpPr txBox="true"/>
          <p:nvPr/>
        </p:nvSpPr>
        <p:spPr>
          <a:xfrm rot="0">
            <a:off x="803385" y="1688959"/>
            <a:ext cx="7563183" cy="1203685"/>
          </a:xfrm>
          <a:prstGeom prst="rect">
            <a:avLst/>
          </a:prstGeom>
        </p:spPr>
        <p:txBody>
          <a:bodyPr anchor="t" rtlCol="false" tIns="0" lIns="0" bIns="0" rIns="0">
            <a:spAutoFit/>
          </a:bodyPr>
          <a:lstStyle/>
          <a:p>
            <a:pPr algn="l">
              <a:lnSpc>
                <a:spcPts val="2430"/>
              </a:lnSpc>
              <a:spcBef>
                <a:spcPct val="0"/>
              </a:spcBef>
            </a:pPr>
            <a:r>
              <a:rPr lang="en-US" sz="1735">
                <a:solidFill>
                  <a:srgbClr val="000000"/>
                </a:solidFill>
                <a:latin typeface="Canva Sans"/>
                <a:ea typeface="Canva Sans"/>
                <a:cs typeface="Canva Sans"/>
                <a:sym typeface="Canva Sans"/>
              </a:rPr>
              <a:t>The plotly dashb</a:t>
            </a:r>
            <a:r>
              <a:rPr lang="en-US" sz="1735">
                <a:solidFill>
                  <a:srgbClr val="000000"/>
                </a:solidFill>
                <a:latin typeface="Canva Sans"/>
                <a:ea typeface="Canva Sans"/>
                <a:cs typeface="Canva Sans"/>
                <a:sym typeface="Canva Sans"/>
              </a:rPr>
              <a:t>oard below displays real-time and historical environmental data (temperature, humidity, light, and CO₂) for a selected room, allowing users to monitor and analyze room conditions over a chosen time range.</a:t>
            </a:r>
          </a:p>
        </p:txBody>
      </p:sp>
      <p:sp>
        <p:nvSpPr>
          <p:cNvPr name="TextBox 15" id="15"/>
          <p:cNvSpPr txBox="true"/>
          <p:nvPr/>
        </p:nvSpPr>
        <p:spPr>
          <a:xfrm rot="0">
            <a:off x="8896632" y="6428242"/>
            <a:ext cx="3325766" cy="2422721"/>
          </a:xfrm>
          <a:prstGeom prst="rect">
            <a:avLst/>
          </a:prstGeom>
        </p:spPr>
        <p:txBody>
          <a:bodyPr anchor="t" rtlCol="false" tIns="0" lIns="0" bIns="0" rIns="0">
            <a:spAutoFit/>
          </a:bodyPr>
          <a:lstStyle/>
          <a:p>
            <a:pPr algn="l">
              <a:lnSpc>
                <a:spcPts val="2439"/>
              </a:lnSpc>
              <a:spcBef>
                <a:spcPct val="0"/>
              </a:spcBef>
            </a:pPr>
            <a:r>
              <a:rPr lang="en-US" sz="1742">
                <a:solidFill>
                  <a:srgbClr val="000000"/>
                </a:solidFill>
                <a:latin typeface="Canva Sans"/>
                <a:ea typeface="Canva Sans"/>
                <a:cs typeface="Canva Sans"/>
                <a:sym typeface="Canva Sans"/>
              </a:rPr>
              <a:t>The plotly dashboard beside displays alert logs generated by sensor readings, showing the time, room, sensor type, value, and severity (high or low) to help identify abnormal environmental conditions in real-time.</a:t>
            </a:r>
          </a:p>
        </p:txBody>
      </p:sp>
      <p:sp>
        <p:nvSpPr>
          <p:cNvPr name="TextBox 16" id="16"/>
          <p:cNvSpPr txBox="true"/>
          <p:nvPr/>
        </p:nvSpPr>
        <p:spPr>
          <a:xfrm rot="0">
            <a:off x="17627794" y="9201150"/>
            <a:ext cx="457398"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9863732"/>
            <a:ext cx="18288000" cy="423268"/>
            <a:chOff x="0" y="0"/>
            <a:chExt cx="4816593" cy="111478"/>
          </a:xfrm>
        </p:grpSpPr>
        <p:sp>
          <p:nvSpPr>
            <p:cNvPr name="Freeform 4" id="4"/>
            <p:cNvSpPr/>
            <p:nvPr/>
          </p:nvSpPr>
          <p:spPr>
            <a:xfrm flipH="false" flipV="false" rot="0">
              <a:off x="0" y="0"/>
              <a:ext cx="4816592" cy="111478"/>
            </a:xfrm>
            <a:custGeom>
              <a:avLst/>
              <a:gdLst/>
              <a:ahLst/>
              <a:cxnLst/>
              <a:rect r="r" b="b" t="t" l="l"/>
              <a:pathLst>
                <a:path h="111478" w="4816592">
                  <a:moveTo>
                    <a:pt x="0" y="0"/>
                  </a:moveTo>
                  <a:lnTo>
                    <a:pt x="4816592" y="0"/>
                  </a:lnTo>
                  <a:lnTo>
                    <a:pt x="4816592" y="111478"/>
                  </a:lnTo>
                  <a:lnTo>
                    <a:pt x="0" y="111478"/>
                  </a:lnTo>
                  <a:close/>
                </a:path>
              </a:pathLst>
            </a:custGeom>
            <a:solidFill>
              <a:srgbClr val="004AAD"/>
            </a:solidFill>
          </p:spPr>
        </p:sp>
        <p:sp>
          <p:nvSpPr>
            <p:cNvPr name="TextBox 5" id="5"/>
            <p:cNvSpPr txBox="true"/>
            <p:nvPr/>
          </p:nvSpPr>
          <p:spPr>
            <a:xfrm>
              <a:off x="0" y="-47625"/>
              <a:ext cx="4816593" cy="15910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21645" y="3838018"/>
            <a:ext cx="8478262" cy="4016577"/>
          </a:xfrm>
          <a:custGeom>
            <a:avLst/>
            <a:gdLst/>
            <a:ahLst/>
            <a:cxnLst/>
            <a:rect r="r" b="b" t="t" l="l"/>
            <a:pathLst>
              <a:path h="4016577" w="8478262">
                <a:moveTo>
                  <a:pt x="0" y="0"/>
                </a:moveTo>
                <a:lnTo>
                  <a:pt x="8478263" y="0"/>
                </a:lnTo>
                <a:lnTo>
                  <a:pt x="8478263" y="4016576"/>
                </a:lnTo>
                <a:lnTo>
                  <a:pt x="0" y="4016576"/>
                </a:lnTo>
                <a:lnTo>
                  <a:pt x="0" y="0"/>
                </a:lnTo>
                <a:close/>
              </a:path>
            </a:pathLst>
          </a:custGeom>
          <a:blipFill>
            <a:blip r:embed="rId3"/>
            <a:stretch>
              <a:fillRect l="0" t="0" r="0" b="0"/>
            </a:stretch>
          </a:blipFill>
        </p:spPr>
      </p:sp>
      <p:sp>
        <p:nvSpPr>
          <p:cNvPr name="Freeform 7" id="7"/>
          <p:cNvSpPr/>
          <p:nvPr/>
        </p:nvSpPr>
        <p:spPr>
          <a:xfrm flipH="false" flipV="false" rot="0">
            <a:off x="9623443" y="3838018"/>
            <a:ext cx="8312686" cy="4016577"/>
          </a:xfrm>
          <a:custGeom>
            <a:avLst/>
            <a:gdLst/>
            <a:ahLst/>
            <a:cxnLst/>
            <a:rect r="r" b="b" t="t" l="l"/>
            <a:pathLst>
              <a:path h="4016577" w="8312686">
                <a:moveTo>
                  <a:pt x="0" y="0"/>
                </a:moveTo>
                <a:lnTo>
                  <a:pt x="8312687" y="0"/>
                </a:lnTo>
                <a:lnTo>
                  <a:pt x="8312687" y="4016576"/>
                </a:lnTo>
                <a:lnTo>
                  <a:pt x="0" y="4016576"/>
                </a:lnTo>
                <a:lnTo>
                  <a:pt x="0" y="0"/>
                </a:lnTo>
                <a:close/>
              </a:path>
            </a:pathLst>
          </a:custGeom>
          <a:blipFill>
            <a:blip r:embed="rId4"/>
            <a:stretch>
              <a:fillRect l="0" t="0" r="-1723" b="0"/>
            </a:stretch>
          </a:blipFill>
        </p:spPr>
      </p:sp>
      <p:sp>
        <p:nvSpPr>
          <p:cNvPr name="TextBox 8" id="8"/>
          <p:cNvSpPr txBox="true"/>
          <p:nvPr/>
        </p:nvSpPr>
        <p:spPr>
          <a:xfrm rot="0">
            <a:off x="5577224" y="115785"/>
            <a:ext cx="8419217"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OBJECTIVES ACHIEVED</a:t>
            </a:r>
          </a:p>
        </p:txBody>
      </p:sp>
      <p:sp>
        <p:nvSpPr>
          <p:cNvPr name="TextBox 9" id="9"/>
          <p:cNvSpPr txBox="true"/>
          <p:nvPr/>
        </p:nvSpPr>
        <p:spPr>
          <a:xfrm rot="0">
            <a:off x="421645" y="1948761"/>
            <a:ext cx="8697739" cy="1470660"/>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Canva Sans"/>
                <a:ea typeface="Canva Sans"/>
                <a:cs typeface="Canva Sans"/>
                <a:sym typeface="Canva Sans"/>
              </a:rPr>
              <a:t>The Grafana panel below displays the m</a:t>
            </a:r>
            <a:r>
              <a:rPr lang="en-US" sz="2099">
                <a:solidFill>
                  <a:srgbClr val="000000"/>
                </a:solidFill>
                <a:latin typeface="Canva Sans"/>
                <a:ea typeface="Canva Sans"/>
                <a:cs typeface="Canva Sans"/>
                <a:sym typeface="Canva Sans"/>
              </a:rPr>
              <a:t>ost recent temperature readings from 20 selected rooms, allowing for a quick comparison of environmental conditions across multiple locations using data retrieved from InfluxDB.</a:t>
            </a:r>
          </a:p>
        </p:txBody>
      </p:sp>
      <p:sp>
        <p:nvSpPr>
          <p:cNvPr name="TextBox 10" id="10"/>
          <p:cNvSpPr txBox="true"/>
          <p:nvPr/>
        </p:nvSpPr>
        <p:spPr>
          <a:xfrm rot="0">
            <a:off x="9565369" y="1948761"/>
            <a:ext cx="8514025" cy="1470660"/>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Canva Sans"/>
                <a:ea typeface="Canva Sans"/>
                <a:cs typeface="Canva Sans"/>
                <a:sym typeface="Canva Sans"/>
              </a:rPr>
              <a:t>The Grafana dashboard below visualizes real-time mean sensor metrics (temperature, humidity, light, and CO₂) for room CR101 over time, utilizing data queried from InfluxDB to monitor environmental conditions dynamically.</a:t>
            </a:r>
          </a:p>
        </p:txBody>
      </p:sp>
      <p:grpSp>
        <p:nvGrpSpPr>
          <p:cNvPr name="Group 11" id="11"/>
          <p:cNvGrpSpPr/>
          <p:nvPr/>
        </p:nvGrpSpPr>
        <p:grpSpPr>
          <a:xfrm rot="0">
            <a:off x="139513" y="-1762256"/>
            <a:ext cx="18288000" cy="3086100"/>
            <a:chOff x="0" y="0"/>
            <a:chExt cx="4816593" cy="812800"/>
          </a:xfrm>
        </p:grpSpPr>
        <p:sp>
          <p:nvSpPr>
            <p:cNvPr name="Freeform 12" id="12"/>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gradFill rotWithShape="true">
              <a:gsLst>
                <a:gs pos="0">
                  <a:srgbClr val="0085FF">
                    <a:alpha val="0"/>
                  </a:srgbClr>
                </a:gs>
                <a:gs pos="50000">
                  <a:srgbClr val="001BD1">
                    <a:alpha val="58000"/>
                  </a:srgbClr>
                </a:gs>
                <a:gs pos="100000">
                  <a:srgbClr val="0085FF">
                    <a:alpha val="0"/>
                  </a:srgbClr>
                </a:gs>
              </a:gsLst>
              <a:lin ang="0"/>
            </a:gradFill>
          </p:spPr>
        </p:sp>
        <p:sp>
          <p:nvSpPr>
            <p:cNvPr name="TextBox 13" id="13"/>
            <p:cNvSpPr txBox="true"/>
            <p:nvPr/>
          </p:nvSpPr>
          <p:spPr>
            <a:xfrm>
              <a:off x="0" y="-38100"/>
              <a:ext cx="4816593" cy="8509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602606" y="9201150"/>
            <a:ext cx="457398" cy="941071"/>
          </a:xfrm>
          <a:prstGeom prst="rect">
            <a:avLst/>
          </a:prstGeom>
        </p:spPr>
        <p:txBody>
          <a:bodyPr anchor="t" rtlCol="false" tIns="0" lIns="0" bIns="0" rIns="0">
            <a:spAutoFit/>
          </a:bodyPr>
          <a:lstStyle/>
          <a:p>
            <a:pPr algn="ctr">
              <a:lnSpc>
                <a:spcPts val="3779"/>
              </a:lnSpc>
            </a:pPr>
            <a:r>
              <a:rPr lang="en-US" sz="2699">
                <a:solidFill>
                  <a:srgbClr val="000000"/>
                </a:solidFill>
                <a:latin typeface="Archivo Black"/>
                <a:ea typeface="Archivo Black"/>
                <a:cs typeface="Archivo Black"/>
                <a:sym typeface="Archivo Black"/>
              </a:rPr>
              <a:t>11</a:t>
            </a:r>
          </a:p>
          <a:p>
            <a:pPr algn="ctr">
              <a:lnSpc>
                <a:spcPts val="377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571928" y="1375238"/>
            <a:ext cx="7473619"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FUTURE PROSPECTS</a:t>
            </a:r>
          </a:p>
        </p:txBody>
      </p:sp>
      <p:grpSp>
        <p:nvGrpSpPr>
          <p:cNvPr name="Group 4" id="4"/>
          <p:cNvGrpSpPr/>
          <p:nvPr/>
        </p:nvGrpSpPr>
        <p:grpSpPr>
          <a:xfrm rot="0">
            <a:off x="1622614" y="3753684"/>
            <a:ext cx="677751" cy="67775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1BD1">
                    <a:alpha val="58000"/>
                  </a:srgbClr>
                </a:gs>
                <a:gs pos="100000">
                  <a:srgbClr val="0085FF">
                    <a:alpha val="0"/>
                  </a:srgbClr>
                </a:gs>
              </a:gsLst>
              <a:lin ang="0"/>
            </a:gra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7" id="7"/>
          <p:cNvSpPr txBox="true"/>
          <p:nvPr/>
        </p:nvSpPr>
        <p:spPr>
          <a:xfrm rot="0">
            <a:off x="1622614" y="3895391"/>
            <a:ext cx="496110"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Open Sans Bold"/>
                <a:ea typeface="Open Sans Bold"/>
                <a:cs typeface="Open Sans Bold"/>
                <a:sym typeface="Open Sans Bold"/>
              </a:rPr>
              <a:t>1</a:t>
            </a:r>
          </a:p>
        </p:txBody>
      </p:sp>
      <p:grpSp>
        <p:nvGrpSpPr>
          <p:cNvPr name="Group 8" id="8"/>
          <p:cNvGrpSpPr/>
          <p:nvPr/>
        </p:nvGrpSpPr>
        <p:grpSpPr>
          <a:xfrm rot="0">
            <a:off x="9593500" y="6385453"/>
            <a:ext cx="677751" cy="67775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1BD1">
                    <a:alpha val="58000"/>
                  </a:srgbClr>
                </a:gs>
                <a:gs pos="100000">
                  <a:srgbClr val="0085FF">
                    <a:alpha val="0"/>
                  </a:srgbClr>
                </a:gs>
              </a:gsLst>
              <a:lin ang="0"/>
            </a:gradFill>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1" id="11"/>
          <p:cNvGrpSpPr/>
          <p:nvPr/>
        </p:nvGrpSpPr>
        <p:grpSpPr>
          <a:xfrm rot="0">
            <a:off x="1531794" y="6385453"/>
            <a:ext cx="677751" cy="67775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1BD1">
                    <a:alpha val="58000"/>
                  </a:srgbClr>
                </a:gs>
                <a:gs pos="100000">
                  <a:srgbClr val="0085FF">
                    <a:alpha val="0"/>
                  </a:srgbClr>
                </a:gs>
              </a:gsLst>
              <a:lin ang="0"/>
            </a:gradFill>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4" id="14"/>
          <p:cNvGrpSpPr/>
          <p:nvPr/>
        </p:nvGrpSpPr>
        <p:grpSpPr>
          <a:xfrm rot="0">
            <a:off x="9593500" y="3753684"/>
            <a:ext cx="677751" cy="67775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1BD1">
                    <a:alpha val="58000"/>
                  </a:srgbClr>
                </a:gs>
                <a:gs pos="100000">
                  <a:srgbClr val="0085FF">
                    <a:alpha val="0"/>
                  </a:srgbClr>
                </a:gs>
              </a:gsLst>
              <a:lin ang="0"/>
            </a:gradFill>
          </p:spPr>
        </p:sp>
        <p:sp>
          <p:nvSpPr>
            <p:cNvPr name="TextBox 16" id="1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17" id="17"/>
          <p:cNvSpPr txBox="true"/>
          <p:nvPr/>
        </p:nvSpPr>
        <p:spPr>
          <a:xfrm rot="0">
            <a:off x="1622614" y="6551926"/>
            <a:ext cx="496110"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Open Sans Bold"/>
                <a:ea typeface="Open Sans Bold"/>
                <a:cs typeface="Open Sans Bold"/>
                <a:sym typeface="Open Sans Bold"/>
              </a:rPr>
              <a:t>2</a:t>
            </a:r>
          </a:p>
        </p:txBody>
      </p:sp>
      <p:sp>
        <p:nvSpPr>
          <p:cNvPr name="TextBox 18" id="18"/>
          <p:cNvSpPr txBox="true"/>
          <p:nvPr/>
        </p:nvSpPr>
        <p:spPr>
          <a:xfrm rot="0">
            <a:off x="9684320" y="3895391"/>
            <a:ext cx="496110"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Open Sans Bold"/>
                <a:ea typeface="Open Sans Bold"/>
                <a:cs typeface="Open Sans Bold"/>
                <a:sym typeface="Open Sans Bold"/>
              </a:rPr>
              <a:t>3</a:t>
            </a:r>
          </a:p>
        </p:txBody>
      </p:sp>
      <p:sp>
        <p:nvSpPr>
          <p:cNvPr name="TextBox 19" id="19"/>
          <p:cNvSpPr txBox="true"/>
          <p:nvPr/>
        </p:nvSpPr>
        <p:spPr>
          <a:xfrm rot="0">
            <a:off x="9593500" y="6551926"/>
            <a:ext cx="496110" cy="356235"/>
          </a:xfrm>
          <a:prstGeom prst="rect">
            <a:avLst/>
          </a:prstGeom>
        </p:spPr>
        <p:txBody>
          <a:bodyPr anchor="t" rtlCol="false" tIns="0" lIns="0" bIns="0" rIns="0">
            <a:spAutoFit/>
          </a:bodyPr>
          <a:lstStyle/>
          <a:p>
            <a:pPr algn="ctr">
              <a:lnSpc>
                <a:spcPts val="2939"/>
              </a:lnSpc>
              <a:spcBef>
                <a:spcPct val="0"/>
              </a:spcBef>
            </a:pPr>
            <a:r>
              <a:rPr lang="en-US" b="true" sz="2099">
                <a:solidFill>
                  <a:srgbClr val="000000"/>
                </a:solidFill>
                <a:latin typeface="Open Sans Bold"/>
                <a:ea typeface="Open Sans Bold"/>
                <a:cs typeface="Open Sans Bold"/>
                <a:sym typeface="Open Sans Bold"/>
              </a:rPr>
              <a:t>4</a:t>
            </a:r>
          </a:p>
        </p:txBody>
      </p:sp>
      <p:grpSp>
        <p:nvGrpSpPr>
          <p:cNvPr name="Group 20" id="20"/>
          <p:cNvGrpSpPr/>
          <p:nvPr/>
        </p:nvGrpSpPr>
        <p:grpSpPr>
          <a:xfrm rot="-2801167">
            <a:off x="-727306" y="8239635"/>
            <a:ext cx="4518200" cy="5241352"/>
            <a:chOff x="0" y="0"/>
            <a:chExt cx="525493" cy="609600"/>
          </a:xfrm>
        </p:grpSpPr>
        <p:sp>
          <p:nvSpPr>
            <p:cNvPr name="Freeform 21" id="21"/>
            <p:cNvSpPr/>
            <p:nvPr/>
          </p:nvSpPr>
          <p:spPr>
            <a:xfrm flipH="false" flipV="false" rot="0">
              <a:off x="0" y="0"/>
              <a:ext cx="525493" cy="609600"/>
            </a:xfrm>
            <a:custGeom>
              <a:avLst/>
              <a:gdLst/>
              <a:ahLst/>
              <a:cxnLst/>
              <a:rect r="r" b="b" t="t" l="l"/>
              <a:pathLst>
                <a:path h="609600" w="525493">
                  <a:moveTo>
                    <a:pt x="322293" y="0"/>
                  </a:moveTo>
                  <a:lnTo>
                    <a:pt x="0" y="0"/>
                  </a:lnTo>
                  <a:lnTo>
                    <a:pt x="203200" y="609600"/>
                  </a:lnTo>
                  <a:lnTo>
                    <a:pt x="525493" y="609600"/>
                  </a:lnTo>
                  <a:lnTo>
                    <a:pt x="322293" y="0"/>
                  </a:lnTo>
                  <a:close/>
                </a:path>
              </a:pathLst>
            </a:custGeom>
            <a:gradFill rotWithShape="true">
              <a:gsLst>
                <a:gs pos="0">
                  <a:srgbClr val="001BD1">
                    <a:alpha val="58000"/>
                  </a:srgbClr>
                </a:gs>
                <a:gs pos="100000">
                  <a:srgbClr val="0085FF">
                    <a:alpha val="0"/>
                  </a:srgbClr>
                </a:gs>
              </a:gsLst>
              <a:lin ang="0"/>
            </a:gradFill>
          </p:spPr>
        </p:sp>
        <p:sp>
          <p:nvSpPr>
            <p:cNvPr name="TextBox 22" id="22"/>
            <p:cNvSpPr txBox="true"/>
            <p:nvPr/>
          </p:nvSpPr>
          <p:spPr>
            <a:xfrm>
              <a:off x="101600" y="-38100"/>
              <a:ext cx="322293" cy="6477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7435989" y="9201150"/>
            <a:ext cx="457398"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12</a:t>
            </a:r>
          </a:p>
        </p:txBody>
      </p:sp>
      <p:sp>
        <p:nvSpPr>
          <p:cNvPr name="TextBox 24" id="24"/>
          <p:cNvSpPr txBox="true"/>
          <p:nvPr/>
        </p:nvSpPr>
        <p:spPr>
          <a:xfrm rot="0">
            <a:off x="2550612" y="3715584"/>
            <a:ext cx="6042632" cy="165354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Canva Sans Bold"/>
                <a:ea typeface="Canva Sans Bold"/>
                <a:cs typeface="Canva Sans Bold"/>
                <a:sym typeface="Canva Sans Bold"/>
              </a:rPr>
              <a:t>Real Sens</a:t>
            </a:r>
            <a:r>
              <a:rPr lang="en-US" b="true" sz="2399">
                <a:solidFill>
                  <a:srgbClr val="000000"/>
                </a:solidFill>
                <a:latin typeface="Canva Sans Bold"/>
                <a:ea typeface="Canva Sans Bold"/>
                <a:cs typeface="Canva Sans Bold"/>
                <a:sym typeface="Canva Sans Bold"/>
              </a:rPr>
              <a:t>or Deployment: </a:t>
            </a:r>
            <a:r>
              <a:rPr lang="en-US" sz="2399">
                <a:solidFill>
                  <a:srgbClr val="000000"/>
                </a:solidFill>
                <a:latin typeface="Canva Sans"/>
                <a:ea typeface="Canva Sans"/>
                <a:cs typeface="Canva Sans"/>
                <a:sym typeface="Canva Sans"/>
              </a:rPr>
              <a:t>Replace simulated data with real-time IoT sensor readings (ESP32, DHT22, BH1750, MQ-135) sent via MQTT.</a:t>
            </a:r>
          </a:p>
        </p:txBody>
      </p:sp>
      <p:sp>
        <p:nvSpPr>
          <p:cNvPr name="TextBox 25" id="25"/>
          <p:cNvSpPr txBox="true"/>
          <p:nvPr/>
        </p:nvSpPr>
        <p:spPr>
          <a:xfrm rot="0">
            <a:off x="2550612" y="6360891"/>
            <a:ext cx="6042632" cy="165354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Canva Sans Bold"/>
                <a:ea typeface="Canva Sans Bold"/>
                <a:cs typeface="Canva Sans Bold"/>
                <a:sym typeface="Canva Sans Bold"/>
              </a:rPr>
              <a:t>Machine Learning Integration: </a:t>
            </a:r>
            <a:r>
              <a:rPr lang="en-US" sz="2399">
                <a:solidFill>
                  <a:srgbClr val="000000"/>
                </a:solidFill>
                <a:latin typeface="Canva Sans"/>
                <a:ea typeface="Canva Sans"/>
                <a:cs typeface="Canva Sans"/>
                <a:sym typeface="Canva Sans"/>
              </a:rPr>
              <a:t>Use collected data to predict temperature trends and detect anomalies for proactive monitoring.</a:t>
            </a:r>
          </a:p>
        </p:txBody>
      </p:sp>
      <p:sp>
        <p:nvSpPr>
          <p:cNvPr name="TextBox 26" id="26"/>
          <p:cNvSpPr txBox="true"/>
          <p:nvPr/>
        </p:nvSpPr>
        <p:spPr>
          <a:xfrm rot="0">
            <a:off x="10614151" y="3715584"/>
            <a:ext cx="5962926" cy="165354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Canva Sans Bold"/>
                <a:ea typeface="Canva Sans Bold"/>
                <a:cs typeface="Canva Sans Bold"/>
                <a:sym typeface="Canva Sans Bold"/>
              </a:rPr>
              <a:t>Enhanced Security: </a:t>
            </a:r>
            <a:r>
              <a:rPr lang="en-US" sz="2399">
                <a:solidFill>
                  <a:srgbClr val="000000"/>
                </a:solidFill>
                <a:latin typeface="Canva Sans"/>
                <a:ea typeface="Canva Sans"/>
                <a:cs typeface="Canva Sans"/>
                <a:sym typeface="Canva Sans"/>
              </a:rPr>
              <a:t>Utilize secure MQTT with TLS encryption and user authentication for secure data access and control.</a:t>
            </a:r>
          </a:p>
        </p:txBody>
      </p:sp>
      <p:sp>
        <p:nvSpPr>
          <p:cNvPr name="TextBox 27" id="27"/>
          <p:cNvSpPr txBox="true"/>
          <p:nvPr/>
        </p:nvSpPr>
        <p:spPr>
          <a:xfrm rot="0">
            <a:off x="10614151" y="6360891"/>
            <a:ext cx="5962926" cy="165354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Canva Sans Bold"/>
                <a:ea typeface="Canva Sans Bold"/>
                <a:cs typeface="Canva Sans Bold"/>
                <a:sym typeface="Canva Sans Bold"/>
              </a:rPr>
              <a:t>Use</a:t>
            </a:r>
            <a:r>
              <a:rPr lang="en-US" b="true" sz="2399">
                <a:solidFill>
                  <a:srgbClr val="000000"/>
                </a:solidFill>
                <a:latin typeface="Canva Sans Bold"/>
                <a:ea typeface="Canva Sans Bold"/>
                <a:cs typeface="Canva Sans Bold"/>
                <a:sym typeface="Canva Sans Bold"/>
              </a:rPr>
              <a:t>r Authentication System: </a:t>
            </a:r>
            <a:r>
              <a:rPr lang="en-US" sz="2399">
                <a:solidFill>
                  <a:srgbClr val="000000"/>
                </a:solidFill>
                <a:latin typeface="Canva Sans"/>
                <a:ea typeface="Canva Sans"/>
                <a:cs typeface="Canva Sans"/>
                <a:sym typeface="Canva Sans"/>
              </a:rPr>
              <a:t>Implement role-based login (e.g., OAuth 2.0) to provide personalized and secure access to the dashboard.</a:t>
            </a:r>
          </a:p>
        </p:txBody>
      </p:sp>
      <p:grpSp>
        <p:nvGrpSpPr>
          <p:cNvPr name="Group 28" id="28"/>
          <p:cNvGrpSpPr/>
          <p:nvPr/>
        </p:nvGrpSpPr>
        <p:grpSpPr>
          <a:xfrm rot="0">
            <a:off x="7506202" y="10026817"/>
            <a:ext cx="10781798" cy="342385"/>
            <a:chOff x="0" y="0"/>
            <a:chExt cx="2839651" cy="90176"/>
          </a:xfrm>
        </p:grpSpPr>
        <p:sp>
          <p:nvSpPr>
            <p:cNvPr name="Freeform 29" id="29"/>
            <p:cNvSpPr/>
            <p:nvPr/>
          </p:nvSpPr>
          <p:spPr>
            <a:xfrm flipH="false" flipV="false" rot="0">
              <a:off x="0" y="0"/>
              <a:ext cx="2839651" cy="90176"/>
            </a:xfrm>
            <a:custGeom>
              <a:avLst/>
              <a:gdLst/>
              <a:ahLst/>
              <a:cxnLst/>
              <a:rect r="r" b="b" t="t" l="l"/>
              <a:pathLst>
                <a:path h="90176" w="2839651">
                  <a:moveTo>
                    <a:pt x="0" y="0"/>
                  </a:moveTo>
                  <a:lnTo>
                    <a:pt x="2839651" y="0"/>
                  </a:lnTo>
                  <a:lnTo>
                    <a:pt x="2839651" y="90176"/>
                  </a:lnTo>
                  <a:lnTo>
                    <a:pt x="0" y="90176"/>
                  </a:lnTo>
                  <a:close/>
                </a:path>
              </a:pathLst>
            </a:custGeom>
            <a:solidFill>
              <a:srgbClr val="004AAD"/>
            </a:solidFill>
          </p:spPr>
        </p:sp>
        <p:sp>
          <p:nvSpPr>
            <p:cNvPr name="TextBox 30" id="30"/>
            <p:cNvSpPr txBox="true"/>
            <p:nvPr/>
          </p:nvSpPr>
          <p:spPr>
            <a:xfrm>
              <a:off x="0" y="-47625"/>
              <a:ext cx="2839651" cy="13780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1598" y="-1711466"/>
            <a:ext cx="18288000" cy="3086100"/>
            <a:chOff x="0" y="0"/>
            <a:chExt cx="4816593" cy="812800"/>
          </a:xfrm>
        </p:grpSpPr>
        <p:sp>
          <p:nvSpPr>
            <p:cNvPr name="Freeform 3" id="3"/>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gradFill rotWithShape="true">
              <a:gsLst>
                <a:gs pos="0">
                  <a:srgbClr val="0085FF">
                    <a:alpha val="0"/>
                  </a:srgbClr>
                </a:gs>
                <a:gs pos="50000">
                  <a:srgbClr val="001BD1">
                    <a:alpha val="58000"/>
                  </a:srgbClr>
                </a:gs>
                <a:gs pos="100000">
                  <a:srgbClr val="0085FF">
                    <a:alpha val="0"/>
                  </a:srgbClr>
                </a:gs>
              </a:gsLst>
              <a:lin ang="0"/>
            </a:gradFill>
          </p:spPr>
        </p:sp>
        <p:sp>
          <p:nvSpPr>
            <p:cNvPr name="TextBox 4" id="4"/>
            <p:cNvSpPr txBox="true"/>
            <p:nvPr/>
          </p:nvSpPr>
          <p:spPr>
            <a:xfrm>
              <a:off x="0" y="-38100"/>
              <a:ext cx="4816593" cy="8509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796782" y="23492"/>
            <a:ext cx="4694436" cy="1005208"/>
          </a:xfrm>
          <a:prstGeom prst="rect">
            <a:avLst/>
          </a:prstGeom>
        </p:spPr>
        <p:txBody>
          <a:bodyPr anchor="t" rtlCol="false" tIns="0" lIns="0" bIns="0" rIns="0">
            <a:spAutoFit/>
          </a:bodyPr>
          <a:lstStyle/>
          <a:p>
            <a:pPr algn="ctr">
              <a:lnSpc>
                <a:spcPts val="8119"/>
              </a:lnSpc>
              <a:spcBef>
                <a:spcPct val="0"/>
              </a:spcBef>
            </a:pPr>
            <a:r>
              <a:rPr lang="en-US" sz="5799">
                <a:solidFill>
                  <a:srgbClr val="000000"/>
                </a:solidFill>
                <a:latin typeface="Canva Sans"/>
                <a:ea typeface="Canva Sans"/>
                <a:cs typeface="Canva Sans"/>
                <a:sym typeface="Canva Sans"/>
              </a:rPr>
              <a:t>REFERENCES</a:t>
            </a:r>
          </a:p>
        </p:txBody>
      </p:sp>
      <p:sp>
        <p:nvSpPr>
          <p:cNvPr name="TextBox 6" id="6"/>
          <p:cNvSpPr txBox="true"/>
          <p:nvPr/>
        </p:nvSpPr>
        <p:spPr>
          <a:xfrm rot="0">
            <a:off x="1028700" y="1979691"/>
            <a:ext cx="15964421" cy="7198838"/>
          </a:xfrm>
          <a:prstGeom prst="rect">
            <a:avLst/>
          </a:prstGeom>
        </p:spPr>
        <p:txBody>
          <a:bodyPr anchor="t" rtlCol="false" tIns="0" lIns="0" bIns="0" rIns="0">
            <a:spAutoFit/>
          </a:bodyPr>
          <a:lstStyle/>
          <a:p>
            <a:pPr algn="l">
              <a:lnSpc>
                <a:spcPts val="2738"/>
              </a:lnSpc>
            </a:pPr>
            <a:r>
              <a:rPr lang="en-US" sz="1956" b="true">
                <a:solidFill>
                  <a:srgbClr val="000000"/>
                </a:solidFill>
                <a:latin typeface="Roboto Bold"/>
                <a:ea typeface="Roboto Bold"/>
                <a:cs typeface="Roboto Bold"/>
                <a:sym typeface="Roboto Bold"/>
              </a:rPr>
              <a:t>[1]</a:t>
            </a:r>
            <a:r>
              <a:rPr lang="en-US" sz="1956">
                <a:solidFill>
                  <a:srgbClr val="000000"/>
                </a:solidFill>
                <a:latin typeface="Roboto"/>
                <a:ea typeface="Roboto"/>
                <a:cs typeface="Roboto"/>
                <a:sym typeface="Roboto"/>
              </a:rPr>
              <a:t>Lantz, B., Heller, B., and McKeown, N. "A network in a laptop: Rapid prototyping for Software-Defined Networks." </a:t>
            </a:r>
            <a:r>
              <a:rPr lang="en-US" sz="1956" i="true">
                <a:solidFill>
                  <a:srgbClr val="000000"/>
                </a:solidFill>
                <a:latin typeface="Roboto Italics"/>
                <a:ea typeface="Roboto Italics"/>
                <a:cs typeface="Roboto Italics"/>
                <a:sym typeface="Roboto Italics"/>
              </a:rPr>
              <a:t>Proceedings of the 9th ACM SIGCOMM Workshop on Hot Topics in Networks (HotNets)</a:t>
            </a:r>
            <a:r>
              <a:rPr lang="en-US" sz="1956">
                <a:solidFill>
                  <a:srgbClr val="000000"/>
                </a:solidFill>
                <a:latin typeface="Roboto"/>
                <a:ea typeface="Roboto"/>
                <a:cs typeface="Roboto"/>
                <a:sym typeface="Roboto"/>
              </a:rPr>
              <a:t>, Monterey, CA, USA, October 2010. </a:t>
            </a:r>
            <a:r>
              <a:rPr lang="en-US" sz="1956" i="true">
                <a:solidFill>
                  <a:srgbClr val="000000"/>
                </a:solidFill>
                <a:latin typeface="Roboto Italics"/>
                <a:ea typeface="Roboto Italics"/>
                <a:cs typeface="Roboto Italics"/>
                <a:sym typeface="Roboto Italics"/>
              </a:rPr>
              <a:t>(The foundational paper for Mininet, which you used for network simulation.)</a:t>
            </a:r>
          </a:p>
          <a:p>
            <a:pPr algn="l">
              <a:lnSpc>
                <a:spcPts val="2738"/>
              </a:lnSpc>
            </a:pPr>
          </a:p>
          <a:p>
            <a:pPr algn="l">
              <a:lnSpc>
                <a:spcPts val="2738"/>
              </a:lnSpc>
            </a:pPr>
            <a:r>
              <a:rPr lang="en-US" sz="1956" b="true">
                <a:solidFill>
                  <a:srgbClr val="000000"/>
                </a:solidFill>
                <a:latin typeface="Roboto Bold"/>
                <a:ea typeface="Roboto Bold"/>
                <a:cs typeface="Roboto Bold"/>
                <a:sym typeface="Roboto Bold"/>
              </a:rPr>
              <a:t>[2]</a:t>
            </a:r>
            <a:r>
              <a:rPr lang="en-US" sz="1956">
                <a:solidFill>
                  <a:srgbClr val="000000"/>
                </a:solidFill>
                <a:latin typeface="Roboto"/>
                <a:ea typeface="Roboto"/>
                <a:cs typeface="Roboto"/>
                <a:sym typeface="Roboto"/>
              </a:rPr>
              <a:t>Banks, A., and Gupta, R. "MQTT Version 3.1.1." OASIS Standard. October 2014. [Online]. Available:</a:t>
            </a:r>
            <a:r>
              <a:rPr lang="en-US" sz="1956" u="sng">
                <a:solidFill>
                  <a:srgbClr val="000000"/>
                </a:solidFill>
                <a:latin typeface="Roboto"/>
                <a:ea typeface="Roboto"/>
                <a:cs typeface="Roboto"/>
                <a:sym typeface="Roboto"/>
                <a:hlinkClick r:id="rId2" tooltip="http://docs.oasis-open.org/mqtt/mqtt/v3.1.1/os/mqtt-v3.1.1-os.html"/>
              </a:rPr>
              <a:t> http://docs.oasis-open.org/mqtt/mqtt/v3.1.1/os/mqtt-v3.1.1-os.html</a:t>
            </a:r>
            <a:r>
              <a:rPr lang="en-US" sz="1956">
                <a:solidFill>
                  <a:srgbClr val="000000"/>
                </a:solidFill>
                <a:latin typeface="Roboto"/>
                <a:ea typeface="Roboto"/>
                <a:cs typeface="Roboto"/>
                <a:sym typeface="Roboto"/>
              </a:rPr>
              <a:t> </a:t>
            </a:r>
            <a:r>
              <a:rPr lang="en-US" sz="1956" i="true">
                <a:solidFill>
                  <a:srgbClr val="000000"/>
                </a:solidFill>
                <a:latin typeface="Roboto Italics"/>
                <a:ea typeface="Roboto Italics"/>
                <a:cs typeface="Roboto Italics"/>
                <a:sym typeface="Roboto Italics"/>
              </a:rPr>
              <a:t>(The official specification for the MQTT protocol you implemented.)</a:t>
            </a:r>
          </a:p>
          <a:p>
            <a:pPr algn="l">
              <a:lnSpc>
                <a:spcPts val="2738"/>
              </a:lnSpc>
            </a:pPr>
          </a:p>
          <a:p>
            <a:pPr algn="l">
              <a:lnSpc>
                <a:spcPts val="2738"/>
              </a:lnSpc>
            </a:pPr>
            <a:r>
              <a:rPr lang="en-US" sz="1956" b="true">
                <a:solidFill>
                  <a:srgbClr val="000000"/>
                </a:solidFill>
                <a:latin typeface="Roboto Bold"/>
                <a:ea typeface="Roboto Bold"/>
                <a:cs typeface="Roboto Bold"/>
                <a:sym typeface="Roboto Bold"/>
              </a:rPr>
              <a:t>[3]</a:t>
            </a:r>
            <a:r>
              <a:rPr lang="en-US" sz="1956">
                <a:solidFill>
                  <a:srgbClr val="000000"/>
                </a:solidFill>
                <a:latin typeface="Roboto"/>
                <a:ea typeface="Roboto"/>
                <a:cs typeface="Roboto"/>
                <a:sym typeface="Roboto"/>
              </a:rPr>
              <a:t>S. H. L., T. K. L., and C. F. L. "Design and Implementation of an IoT-Based Environmental Monitoring System with MQTT, InfluxDB, and Grafana," </a:t>
            </a:r>
            <a:r>
              <a:rPr lang="en-US" sz="1956" i="true">
                <a:solidFill>
                  <a:srgbClr val="000000"/>
                </a:solidFill>
                <a:latin typeface="Roboto Italics"/>
                <a:ea typeface="Roboto Italics"/>
                <a:cs typeface="Roboto Italics"/>
                <a:sym typeface="Roboto Italics"/>
              </a:rPr>
              <a:t>2021 International Conference on Computer and Information Sciences (ICCOINS)</a:t>
            </a:r>
            <a:r>
              <a:rPr lang="en-US" sz="1956">
                <a:solidFill>
                  <a:srgbClr val="000000"/>
                </a:solidFill>
                <a:latin typeface="Roboto"/>
                <a:ea typeface="Roboto"/>
                <a:cs typeface="Roboto"/>
                <a:sym typeface="Roboto"/>
              </a:rPr>
              <a:t>, 2021, pp. 1-6. </a:t>
            </a:r>
            <a:r>
              <a:rPr lang="en-US" sz="1956" i="true">
                <a:solidFill>
                  <a:srgbClr val="000000"/>
                </a:solidFill>
                <a:latin typeface="Roboto Italics"/>
                <a:ea typeface="Roboto Italics"/>
                <a:cs typeface="Roboto Italics"/>
                <a:sym typeface="Roboto Italics"/>
              </a:rPr>
              <a:t>(A paper with an almost identical technology stack, ideal for citing as related work.)</a:t>
            </a:r>
          </a:p>
          <a:p>
            <a:pPr algn="l">
              <a:lnSpc>
                <a:spcPts val="2738"/>
              </a:lnSpc>
            </a:pPr>
          </a:p>
          <a:p>
            <a:pPr algn="l">
              <a:lnSpc>
                <a:spcPts val="2738"/>
              </a:lnSpc>
            </a:pPr>
            <a:r>
              <a:rPr lang="en-US" sz="1956" b="true">
                <a:solidFill>
                  <a:srgbClr val="000000"/>
                </a:solidFill>
                <a:latin typeface="Roboto Bold"/>
                <a:ea typeface="Roboto Bold"/>
                <a:cs typeface="Roboto Bold"/>
                <a:sym typeface="Roboto Bold"/>
              </a:rPr>
              <a:t>[4]</a:t>
            </a:r>
            <a:r>
              <a:rPr lang="en-US" sz="1956">
                <a:solidFill>
                  <a:srgbClr val="000000"/>
                </a:solidFill>
                <a:latin typeface="Roboto"/>
                <a:ea typeface="Roboto"/>
                <a:cs typeface="Roboto"/>
                <a:sym typeface="Roboto"/>
              </a:rPr>
              <a:t>InfluxData. "InfluxDB Technical Documentation." [Online]. Available:</a:t>
            </a:r>
            <a:r>
              <a:rPr lang="en-US" sz="1956" u="sng">
                <a:solidFill>
                  <a:srgbClr val="000000"/>
                </a:solidFill>
                <a:latin typeface="Roboto"/>
                <a:ea typeface="Roboto"/>
                <a:cs typeface="Roboto"/>
                <a:sym typeface="Roboto"/>
                <a:hlinkClick r:id="rId3" tooltip="https://docs.influxdata.com/influxdb/"/>
              </a:rPr>
              <a:t> https://docs.influxdata.com/influxdb/</a:t>
            </a:r>
            <a:r>
              <a:rPr lang="en-US" sz="1956">
                <a:solidFill>
                  <a:srgbClr val="000000"/>
                </a:solidFill>
                <a:latin typeface="Roboto"/>
                <a:ea typeface="Roboto"/>
                <a:cs typeface="Roboto"/>
                <a:sym typeface="Roboto"/>
              </a:rPr>
              <a:t> </a:t>
            </a:r>
            <a:r>
              <a:rPr lang="en-US" sz="1956" i="true">
                <a:solidFill>
                  <a:srgbClr val="000000"/>
                </a:solidFill>
                <a:latin typeface="Roboto Italics"/>
                <a:ea typeface="Roboto Italics"/>
                <a:cs typeface="Roboto Italics"/>
                <a:sym typeface="Roboto Italics"/>
              </a:rPr>
              <a:t>(The official documentation for the time-series database you used.)</a:t>
            </a:r>
          </a:p>
          <a:p>
            <a:pPr algn="l">
              <a:lnSpc>
                <a:spcPts val="2738"/>
              </a:lnSpc>
            </a:pPr>
          </a:p>
          <a:p>
            <a:pPr algn="l">
              <a:lnSpc>
                <a:spcPts val="2738"/>
              </a:lnSpc>
            </a:pPr>
            <a:r>
              <a:rPr lang="en-US" sz="1956" b="true">
                <a:solidFill>
                  <a:srgbClr val="000000"/>
                </a:solidFill>
                <a:latin typeface="Roboto Bold"/>
                <a:ea typeface="Roboto Bold"/>
                <a:cs typeface="Roboto Bold"/>
                <a:sym typeface="Roboto Bold"/>
              </a:rPr>
              <a:t>[5]</a:t>
            </a:r>
            <a:r>
              <a:rPr lang="en-US" sz="1956">
                <a:solidFill>
                  <a:srgbClr val="000000"/>
                </a:solidFill>
                <a:latin typeface="Roboto"/>
                <a:ea typeface="Roboto"/>
                <a:cs typeface="Roboto"/>
                <a:sym typeface="Roboto"/>
              </a:rPr>
              <a:t>Grafana Labs. "Grafana Documentation." [Online]. Available:</a:t>
            </a:r>
            <a:r>
              <a:rPr lang="en-US" sz="1956" u="sng">
                <a:solidFill>
                  <a:srgbClr val="000000"/>
                </a:solidFill>
                <a:latin typeface="Roboto"/>
                <a:ea typeface="Roboto"/>
                <a:cs typeface="Roboto"/>
                <a:sym typeface="Roboto"/>
                <a:hlinkClick r:id="rId4" tooltip="https://grafana.com/docs/grafana/latest/"/>
              </a:rPr>
              <a:t> https://grafana.com/docs/grafana/latest/</a:t>
            </a:r>
            <a:r>
              <a:rPr lang="en-US" sz="1956">
                <a:solidFill>
                  <a:srgbClr val="000000"/>
                </a:solidFill>
                <a:latin typeface="Roboto"/>
                <a:ea typeface="Roboto"/>
                <a:cs typeface="Roboto"/>
                <a:sym typeface="Roboto"/>
              </a:rPr>
              <a:t> </a:t>
            </a:r>
            <a:r>
              <a:rPr lang="en-US" sz="1956" i="true">
                <a:solidFill>
                  <a:srgbClr val="000000"/>
                </a:solidFill>
                <a:latin typeface="Roboto Italics"/>
                <a:ea typeface="Roboto Italics"/>
                <a:cs typeface="Roboto Italics"/>
                <a:sym typeface="Roboto Italics"/>
              </a:rPr>
              <a:t>(The official documentation for the Grafana visualization platform.)</a:t>
            </a:r>
          </a:p>
          <a:p>
            <a:pPr algn="l">
              <a:lnSpc>
                <a:spcPts val="2738"/>
              </a:lnSpc>
            </a:pPr>
          </a:p>
          <a:p>
            <a:pPr algn="l">
              <a:lnSpc>
                <a:spcPts val="2738"/>
              </a:lnSpc>
            </a:pPr>
            <a:r>
              <a:rPr lang="en-US" sz="1956" i="true" b="true">
                <a:solidFill>
                  <a:srgbClr val="000000"/>
                </a:solidFill>
                <a:latin typeface="Roboto Bold Italics"/>
                <a:ea typeface="Roboto Bold Italics"/>
                <a:cs typeface="Roboto Bold Italics"/>
                <a:sym typeface="Roboto Bold Italics"/>
              </a:rPr>
              <a:t>[6]</a:t>
            </a:r>
            <a:r>
              <a:rPr lang="en-US" sz="1956" i="true">
                <a:solidFill>
                  <a:srgbClr val="000000"/>
                </a:solidFill>
                <a:latin typeface="Roboto Italics"/>
                <a:ea typeface="Roboto Italics"/>
                <a:cs typeface="Roboto Italics"/>
                <a:sym typeface="Roboto Italics"/>
              </a:rPr>
              <a:t>“Dash Documentation &amp; User Guide | Plotly,” dash.plotly.com. </a:t>
            </a:r>
            <a:r>
              <a:rPr lang="en-US" sz="1956" i="true" u="sng">
                <a:solidFill>
                  <a:srgbClr val="000000"/>
                </a:solidFill>
                <a:latin typeface="Roboto Italics"/>
                <a:ea typeface="Roboto Italics"/>
                <a:cs typeface="Roboto Italics"/>
                <a:sym typeface="Roboto Italics"/>
                <a:hlinkClick r:id="rId5" tooltip="https://dash.plotly.com"/>
              </a:rPr>
              <a:t>https://dash.plotly.com</a:t>
            </a:r>
          </a:p>
          <a:p>
            <a:pPr algn="l">
              <a:lnSpc>
                <a:spcPts val="2738"/>
              </a:lnSpc>
            </a:pPr>
          </a:p>
          <a:p>
            <a:pPr algn="l">
              <a:lnSpc>
                <a:spcPts val="2738"/>
              </a:lnSpc>
            </a:pPr>
            <a:r>
              <a:rPr lang="en-US" sz="1956" i="true" b="true">
                <a:solidFill>
                  <a:srgbClr val="000000"/>
                </a:solidFill>
                <a:latin typeface="Roboto Bold Italics"/>
                <a:ea typeface="Roboto Bold Italics"/>
                <a:cs typeface="Roboto Bold Italics"/>
                <a:sym typeface="Roboto Bold Italics"/>
              </a:rPr>
              <a:t>[7]</a:t>
            </a:r>
            <a:r>
              <a:rPr lang="en-US" sz="1956" i="true">
                <a:solidFill>
                  <a:srgbClr val="000000"/>
                </a:solidFill>
                <a:latin typeface="Roboto Italics"/>
                <a:ea typeface="Roboto Italics"/>
                <a:cs typeface="Roboto Italics"/>
                <a:sym typeface="Roboto Italics"/>
              </a:rPr>
              <a:t>Flask, “Welcome to Flask — Flask Documentation (1.1.x),” flask.palletsprojects.com. </a:t>
            </a:r>
            <a:r>
              <a:rPr lang="en-US" sz="1956" i="true" u="sng">
                <a:solidFill>
                  <a:srgbClr val="000000"/>
                </a:solidFill>
                <a:latin typeface="Roboto Italics"/>
                <a:ea typeface="Roboto Italics"/>
                <a:cs typeface="Roboto Italics"/>
                <a:sym typeface="Roboto Italics"/>
                <a:hlinkClick r:id="rId6" tooltip="https://flask.palletsprojects.com"/>
              </a:rPr>
              <a:t>https://flask.palletsprojects.com/</a:t>
            </a:r>
          </a:p>
          <a:p>
            <a:pPr algn="l">
              <a:lnSpc>
                <a:spcPts val="2738"/>
              </a:lnSpc>
              <a:spcBef>
                <a:spcPct val="0"/>
              </a:spcBef>
            </a:pPr>
            <a:r>
              <a:rPr lang="en-US" sz="1956" i="true">
                <a:solidFill>
                  <a:srgbClr val="000000"/>
                </a:solidFill>
                <a:latin typeface="Roboto Italics"/>
                <a:ea typeface="Roboto Italics"/>
                <a:cs typeface="Roboto Italics"/>
                <a:sym typeface="Roboto Italics"/>
              </a:rPr>
              <a:t>‌</a:t>
            </a:r>
            <a:r>
              <a:rPr lang="en-US" b="true" sz="1956" i="true">
                <a:solidFill>
                  <a:srgbClr val="000000"/>
                </a:solidFill>
                <a:latin typeface="Roboto Bold Italics"/>
                <a:ea typeface="Roboto Bold Italics"/>
                <a:cs typeface="Roboto Bold Italics"/>
                <a:sym typeface="Roboto Bold Italics"/>
              </a:rPr>
              <a:t>[8]</a:t>
            </a:r>
            <a:r>
              <a:rPr lang="en-US" sz="1956" i="true">
                <a:solidFill>
                  <a:srgbClr val="000000"/>
                </a:solidFill>
                <a:latin typeface="Roboto Italics"/>
                <a:ea typeface="Roboto Italics"/>
                <a:cs typeface="Roboto Italics"/>
                <a:sym typeface="Roboto Italics"/>
              </a:rPr>
              <a:t>L. Gupta, “What is REST – Learn to create timeless REST APIs,” Restfulapi.net, Jun. 13, 2019. </a:t>
            </a:r>
            <a:r>
              <a:rPr lang="en-US" sz="1956" i="true" u="sng">
                <a:solidFill>
                  <a:srgbClr val="000000"/>
                </a:solidFill>
                <a:latin typeface="Roboto Italics"/>
                <a:ea typeface="Roboto Italics"/>
                <a:cs typeface="Roboto Italics"/>
                <a:sym typeface="Roboto Italics"/>
                <a:hlinkClick r:id="rId7" tooltip="https://restfulapi.net"/>
              </a:rPr>
              <a:t>https://restfulapi.net/</a:t>
            </a:r>
          </a:p>
        </p:txBody>
      </p:sp>
      <p:sp>
        <p:nvSpPr>
          <p:cNvPr name="TextBox 7" id="7"/>
          <p:cNvSpPr txBox="true"/>
          <p:nvPr/>
        </p:nvSpPr>
        <p:spPr>
          <a:xfrm rot="0">
            <a:off x="17435989" y="9201150"/>
            <a:ext cx="457398"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13</a:t>
            </a:r>
          </a:p>
        </p:txBody>
      </p:sp>
      <p:grpSp>
        <p:nvGrpSpPr>
          <p:cNvPr name="Group 8" id="8"/>
          <p:cNvGrpSpPr/>
          <p:nvPr/>
        </p:nvGrpSpPr>
        <p:grpSpPr>
          <a:xfrm rot="0">
            <a:off x="0" y="10000736"/>
            <a:ext cx="10122578" cy="286264"/>
            <a:chOff x="0" y="0"/>
            <a:chExt cx="2666029" cy="75395"/>
          </a:xfrm>
        </p:grpSpPr>
        <p:sp>
          <p:nvSpPr>
            <p:cNvPr name="Freeform 9" id="9"/>
            <p:cNvSpPr/>
            <p:nvPr/>
          </p:nvSpPr>
          <p:spPr>
            <a:xfrm flipH="false" flipV="false" rot="0">
              <a:off x="0" y="0"/>
              <a:ext cx="2666029" cy="75395"/>
            </a:xfrm>
            <a:custGeom>
              <a:avLst/>
              <a:gdLst/>
              <a:ahLst/>
              <a:cxnLst/>
              <a:rect r="r" b="b" t="t" l="l"/>
              <a:pathLst>
                <a:path h="75395" w="2666029">
                  <a:moveTo>
                    <a:pt x="0" y="0"/>
                  </a:moveTo>
                  <a:lnTo>
                    <a:pt x="2666029" y="0"/>
                  </a:lnTo>
                  <a:lnTo>
                    <a:pt x="2666029" y="75395"/>
                  </a:lnTo>
                  <a:lnTo>
                    <a:pt x="0" y="75395"/>
                  </a:lnTo>
                  <a:close/>
                </a:path>
              </a:pathLst>
            </a:custGeom>
            <a:solidFill>
              <a:srgbClr val="004AAD"/>
            </a:solidFill>
          </p:spPr>
        </p:sp>
        <p:sp>
          <p:nvSpPr>
            <p:cNvPr name="TextBox 10" id="10"/>
            <p:cNvSpPr txBox="true"/>
            <p:nvPr/>
          </p:nvSpPr>
          <p:spPr>
            <a:xfrm>
              <a:off x="0" y="-47625"/>
              <a:ext cx="2666029" cy="12302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4933297" y="4441914"/>
            <a:ext cx="8421405" cy="1260297"/>
          </a:xfrm>
          <a:prstGeom prst="rect">
            <a:avLst/>
          </a:prstGeom>
        </p:spPr>
        <p:txBody>
          <a:bodyPr anchor="t" rtlCol="false" tIns="0" lIns="0" bIns="0" rIns="0">
            <a:spAutoFit/>
          </a:bodyPr>
          <a:lstStyle/>
          <a:p>
            <a:pPr algn="ctr">
              <a:lnSpc>
                <a:spcPts val="10334"/>
              </a:lnSpc>
            </a:pPr>
            <a:r>
              <a:rPr lang="en-US" b="true" sz="7382">
                <a:solidFill>
                  <a:srgbClr val="000000"/>
                </a:solidFill>
                <a:latin typeface="League Spartan"/>
                <a:ea typeface="League Spartan"/>
                <a:cs typeface="League Spartan"/>
                <a:sym typeface="League Spartan"/>
              </a:rPr>
              <a:t>THANK YOU</a:t>
            </a:r>
          </a:p>
        </p:txBody>
      </p:sp>
      <p:sp>
        <p:nvSpPr>
          <p:cNvPr name="TextBox 4" id="4"/>
          <p:cNvSpPr txBox="true"/>
          <p:nvPr/>
        </p:nvSpPr>
        <p:spPr>
          <a:xfrm rot="0">
            <a:off x="17435989" y="9201150"/>
            <a:ext cx="457398" cy="464821"/>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Archivo Black"/>
                <a:ea typeface="Archivo Black"/>
                <a:cs typeface="Archivo Black"/>
                <a:sym typeface="Archivo Black"/>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DAG4edq9CYM</dc:identifier>
  <dcterms:modified xsi:type="dcterms:W3CDTF">2011-08-01T06:04:30Z</dcterms:modified>
  <cp:revision>1</cp:revision>
  <dc:title>G19_28_SMARTGUARD</dc:title>
</cp:coreProperties>
</file>